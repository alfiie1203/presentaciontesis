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11" r:id="rId3"/>
    <p:sldId id="265" r:id="rId4"/>
    <p:sldId id="267" r:id="rId5"/>
    <p:sldId id="312" r:id="rId6"/>
    <p:sldId id="313" r:id="rId7"/>
    <p:sldId id="314" r:id="rId8"/>
    <p:sldId id="316" r:id="rId9"/>
    <p:sldId id="317" r:id="rId10"/>
    <p:sldId id="318" r:id="rId11"/>
    <p:sldId id="335" r:id="rId12"/>
    <p:sldId id="333" r:id="rId13"/>
    <p:sldId id="337" r:id="rId14"/>
    <p:sldId id="338" r:id="rId15"/>
    <p:sldId id="340" r:id="rId16"/>
    <p:sldId id="332" r:id="rId17"/>
    <p:sldId id="26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15" r:id="rId27"/>
    <p:sldId id="327" r:id="rId28"/>
    <p:sldId id="266" r:id="rId2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54F4119F-BF64-4376-85B8-59E43064EE8F}">
          <p14:sldIdLst>
            <p14:sldId id="256"/>
            <p14:sldId id="311"/>
            <p14:sldId id="265"/>
            <p14:sldId id="267"/>
            <p14:sldId id="312"/>
            <p14:sldId id="313"/>
            <p14:sldId id="314"/>
            <p14:sldId id="316"/>
            <p14:sldId id="317"/>
            <p14:sldId id="318"/>
            <p14:sldId id="335"/>
            <p14:sldId id="333"/>
            <p14:sldId id="337"/>
            <p14:sldId id="338"/>
            <p14:sldId id="340"/>
            <p14:sldId id="332"/>
            <p14:sldId id="26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15"/>
          </p14:sldIdLst>
        </p14:section>
        <p14:section name="Elementos" id="{F614B983-94D5-420C-ACBE-F7C7A7C5CC60}">
          <p14:sldIdLst>
            <p14:sldId id="327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8602"/>
    <a:srgbClr val="D9D9D9"/>
    <a:srgbClr val="FF3200"/>
    <a:srgbClr val="393E46"/>
    <a:srgbClr val="00FFFF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06C8A-0E7F-4372-8813-CD2D57F4DC3E}" type="datetimeFigureOut">
              <a:rPr lang="es-CO" smtClean="0"/>
              <a:t>10/08/2021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68DAF-3A10-474B-9BF8-CF064BE814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0445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65029-1168-4821-917B-CB309D836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2DBCC8-C20E-426F-AB04-3F301FA57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62F418-2E31-465D-840F-B30E3970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E81-F2CB-4325-ACEA-D8C35E937182}" type="datetimeFigureOut">
              <a:rPr lang="es-CO" smtClean="0"/>
              <a:t>10/08/2021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FDA962-196E-4133-B5A9-2F4C82C54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3D1F7B-3141-480D-8536-07E87BCD2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22C48-650A-46D1-9355-92F68518F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770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32572-1941-418F-9A9E-55DEF4458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E4819F-EC56-41F6-BC8A-16867296A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839D10-69BC-43E6-901C-B4EEFFF91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E81-F2CB-4325-ACEA-D8C35E937182}" type="datetimeFigureOut">
              <a:rPr lang="es-CO" smtClean="0"/>
              <a:t>10/08/2021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0AA046-BF2C-48F0-8176-E159FFC3D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F11DB9-869D-4A8B-AC7E-D9D19F55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22C48-650A-46D1-9355-92F68518F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909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CE68EA-4856-4466-8F1F-F3AD0185E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68676F-1063-4AED-AFDA-F3DCD9B84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4C2276-4111-47D2-B596-12DAF62FC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E81-F2CB-4325-ACEA-D8C35E937182}" type="datetimeFigureOut">
              <a:rPr lang="es-CO" smtClean="0"/>
              <a:t>10/08/2021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7C751C-A637-4703-9DAC-494DF405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6A2209-4ABB-401F-A7F9-30DAA6C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22C48-650A-46D1-9355-92F68518F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8112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9F361-046A-4E3A-A79C-E1C91542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8D8292-5CBC-414C-8773-9B7BD12E0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85040B-8855-4924-9228-FE6B2C902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2CB179-28CB-4D8B-B751-5177B416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E81-F2CB-4325-ACEA-D8C35E937182}" type="datetimeFigureOut">
              <a:rPr lang="es-CO" smtClean="0"/>
              <a:t>10/08/2021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BD72AD-BFDE-4126-9F76-B30C77BF4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83F1E6-1D8B-438A-8902-1FBA35B7A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22C48-650A-46D1-9355-92F68518F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318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D6B39-F7D6-487B-A9DB-777A09C9C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7470CE-5D72-4FD1-A018-02A48C38B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FDDD3F-077D-4D3E-96F0-1ADE50AF6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241431-0B43-4D3E-B2B1-6B332F53E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EF0B80-DC9B-44DC-9B4A-3BF742546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F209FE8-E4D0-4FF6-9DF4-F7C47BAB7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E81-F2CB-4325-ACEA-D8C35E937182}" type="datetimeFigureOut">
              <a:rPr lang="es-CO" smtClean="0"/>
              <a:t>10/08/2021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C9254BA-1700-4F6D-85C2-38050284B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4187256-AA79-4892-BFDD-925ED894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22C48-650A-46D1-9355-92F68518F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885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3F35D-818E-44FE-8D9C-596D64E33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B59C16-0FFA-44EE-B893-354953FD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E81-F2CB-4325-ACEA-D8C35E937182}" type="datetimeFigureOut">
              <a:rPr lang="es-CO" smtClean="0"/>
              <a:t>10/08/2021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8CCCB6-72DA-45E6-B8EA-DBD53EE40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7DC39E8-E602-4CF9-9783-BC0CF9E6F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22C48-650A-46D1-9355-92F68518F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0606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D3EB763-FDDC-4F62-9539-BCF216420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E81-F2CB-4325-ACEA-D8C35E937182}" type="datetimeFigureOut">
              <a:rPr lang="es-CO" smtClean="0"/>
              <a:t>10/08/2021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180507-6355-4887-B87E-AFE988BE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A59C93-A1B6-427B-93BA-1653C068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22C48-650A-46D1-9355-92F68518F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854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E141F-D4FB-465C-ACE7-A690C7F13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660397-067D-4AE0-847B-0466235A9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7EF1905-255A-4D0D-B01E-93721BC1A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13A169-0E84-46EF-8FB2-A3A320991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E81-F2CB-4325-ACEA-D8C35E937182}" type="datetimeFigureOut">
              <a:rPr lang="es-CO" smtClean="0"/>
              <a:t>10/08/2021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9AEC4F-D6DA-480F-806F-9E367A30D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524F4A-6D47-4231-95FF-A74698F0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22C48-650A-46D1-9355-92F68518F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1397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AB6CF-DDD6-40BB-B6E4-9A85A1A28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7239BE-6A99-4246-9DA8-9D37A286A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5C773E-B725-4DFE-8434-E217A0499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03E2AD-C5BA-4B07-88C6-664E2006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E81-F2CB-4325-ACEA-D8C35E937182}" type="datetimeFigureOut">
              <a:rPr lang="es-CO" smtClean="0"/>
              <a:t>10/08/2021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58DE9E-6CB0-4DE2-878E-C81B4874E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51E4A3-2890-4EC7-A7E9-516882A8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22C48-650A-46D1-9355-92F68518F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841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5EC53-F4B2-4ECF-90E2-8B42DDE5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DE69B69-60B4-4F7B-BDB7-2A7796AC4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6C811B-3E0F-44F8-B27C-D25BF53A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E81-F2CB-4325-ACEA-D8C35E937182}" type="datetimeFigureOut">
              <a:rPr lang="es-CO" smtClean="0"/>
              <a:t>10/08/2021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45B9AA-4E8F-4BA5-BC9E-08A4D0084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6CA062-6BDA-467D-B4F9-FD9CD59A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22C48-650A-46D1-9355-92F68518F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1972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765446-6CA8-425B-996A-211F176F0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72F379-75F0-45DB-8E26-18218B249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B82BA0-5ECF-482D-8AED-46C52D7D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E81-F2CB-4325-ACEA-D8C35E937182}" type="datetimeFigureOut">
              <a:rPr lang="es-CO" smtClean="0"/>
              <a:t>10/08/2021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DC5168-48F9-41E9-B034-5406D77F7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D81227-5E50-41DC-BF86-ACB2B714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22C48-650A-46D1-9355-92F68518F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348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452A83A-B834-4B01-9DCC-AC700D113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D81A0F-BD8D-4084-9F66-31BB87D15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A40C6E-7AC1-46FF-BD21-6314F4E24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FAE81-F2CB-4325-ACEA-D8C35E937182}" type="datetimeFigureOut">
              <a:rPr lang="es-CO" smtClean="0"/>
              <a:t>10/08/2021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2230A7-35D9-4775-A187-773E85320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D8B8FD-BE18-4F11-BF4E-AFB19ED0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2C48-650A-46D1-9355-92F68518F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3536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2.xml"/><Relationship Id="rId18" Type="http://schemas.openxmlformats.org/officeDocument/2006/relationships/image" Target="../media/image14.svg"/><Relationship Id="rId3" Type="http://schemas.openxmlformats.org/officeDocument/2006/relationships/image" Target="../media/image7.jpg"/><Relationship Id="rId7" Type="http://schemas.openxmlformats.org/officeDocument/2006/relationships/slide" Target="slide16.xml"/><Relationship Id="rId12" Type="http://schemas.openxmlformats.org/officeDocument/2006/relationships/slide" Target="slide15.xml"/><Relationship Id="rId17" Type="http://schemas.openxmlformats.org/officeDocument/2006/relationships/image" Target="../media/image13.png"/><Relationship Id="rId2" Type="http://schemas.openxmlformats.org/officeDocument/2006/relationships/image" Target="../media/image6.png"/><Relationship Id="rId16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slide" Target="slide14.xml"/><Relationship Id="rId5" Type="http://schemas.openxmlformats.org/officeDocument/2006/relationships/image" Target="../media/image9.png"/><Relationship Id="rId15" Type="http://schemas.openxmlformats.org/officeDocument/2006/relationships/image" Target="../media/image12.svg"/><Relationship Id="rId10" Type="http://schemas.openxmlformats.org/officeDocument/2006/relationships/slide" Target="slide13.xml"/><Relationship Id="rId4" Type="http://schemas.openxmlformats.org/officeDocument/2006/relationships/image" Target="../media/image4.jpg"/><Relationship Id="rId9" Type="http://schemas.openxmlformats.org/officeDocument/2006/relationships/slide" Target="slide10.xml"/><Relationship Id="rId1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2.xml"/><Relationship Id="rId18" Type="http://schemas.openxmlformats.org/officeDocument/2006/relationships/image" Target="../media/image14.svg"/><Relationship Id="rId3" Type="http://schemas.openxmlformats.org/officeDocument/2006/relationships/image" Target="../media/image7.jpg"/><Relationship Id="rId7" Type="http://schemas.openxmlformats.org/officeDocument/2006/relationships/slide" Target="slide16.xml"/><Relationship Id="rId12" Type="http://schemas.openxmlformats.org/officeDocument/2006/relationships/slide" Target="slide15.xml"/><Relationship Id="rId17" Type="http://schemas.openxmlformats.org/officeDocument/2006/relationships/image" Target="../media/image13.png"/><Relationship Id="rId2" Type="http://schemas.openxmlformats.org/officeDocument/2006/relationships/image" Target="../media/image6.png"/><Relationship Id="rId16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slide" Target="slide14.xml"/><Relationship Id="rId5" Type="http://schemas.openxmlformats.org/officeDocument/2006/relationships/image" Target="../media/image9.png"/><Relationship Id="rId15" Type="http://schemas.openxmlformats.org/officeDocument/2006/relationships/image" Target="../media/image12.svg"/><Relationship Id="rId10" Type="http://schemas.openxmlformats.org/officeDocument/2006/relationships/slide" Target="slide13.xml"/><Relationship Id="rId4" Type="http://schemas.openxmlformats.org/officeDocument/2006/relationships/image" Target="../media/image4.jpg"/><Relationship Id="rId9" Type="http://schemas.openxmlformats.org/officeDocument/2006/relationships/slide" Target="slide10.xml"/><Relationship Id="rId1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2.xml"/><Relationship Id="rId18" Type="http://schemas.openxmlformats.org/officeDocument/2006/relationships/image" Target="../media/image14.svg"/><Relationship Id="rId3" Type="http://schemas.openxmlformats.org/officeDocument/2006/relationships/image" Target="../media/image7.jpg"/><Relationship Id="rId7" Type="http://schemas.openxmlformats.org/officeDocument/2006/relationships/slide" Target="slide16.xml"/><Relationship Id="rId12" Type="http://schemas.openxmlformats.org/officeDocument/2006/relationships/slide" Target="slide15.xml"/><Relationship Id="rId17" Type="http://schemas.openxmlformats.org/officeDocument/2006/relationships/image" Target="../media/image13.png"/><Relationship Id="rId2" Type="http://schemas.openxmlformats.org/officeDocument/2006/relationships/image" Target="../media/image6.png"/><Relationship Id="rId16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slide" Target="slide14.xml"/><Relationship Id="rId5" Type="http://schemas.openxmlformats.org/officeDocument/2006/relationships/image" Target="../media/image9.png"/><Relationship Id="rId15" Type="http://schemas.openxmlformats.org/officeDocument/2006/relationships/image" Target="../media/image12.svg"/><Relationship Id="rId10" Type="http://schemas.openxmlformats.org/officeDocument/2006/relationships/slide" Target="slide13.xml"/><Relationship Id="rId4" Type="http://schemas.openxmlformats.org/officeDocument/2006/relationships/image" Target="../media/image4.jpg"/><Relationship Id="rId9" Type="http://schemas.openxmlformats.org/officeDocument/2006/relationships/slide" Target="slide10.xml"/><Relationship Id="rId1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2.xml"/><Relationship Id="rId18" Type="http://schemas.openxmlformats.org/officeDocument/2006/relationships/image" Target="../media/image14.svg"/><Relationship Id="rId3" Type="http://schemas.openxmlformats.org/officeDocument/2006/relationships/image" Target="../media/image7.jpg"/><Relationship Id="rId7" Type="http://schemas.openxmlformats.org/officeDocument/2006/relationships/slide" Target="slide16.xml"/><Relationship Id="rId12" Type="http://schemas.openxmlformats.org/officeDocument/2006/relationships/slide" Target="slide15.xml"/><Relationship Id="rId17" Type="http://schemas.openxmlformats.org/officeDocument/2006/relationships/image" Target="../media/image13.png"/><Relationship Id="rId2" Type="http://schemas.openxmlformats.org/officeDocument/2006/relationships/image" Target="../media/image6.png"/><Relationship Id="rId16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slide" Target="slide14.xml"/><Relationship Id="rId5" Type="http://schemas.openxmlformats.org/officeDocument/2006/relationships/image" Target="../media/image9.png"/><Relationship Id="rId15" Type="http://schemas.openxmlformats.org/officeDocument/2006/relationships/image" Target="../media/image12.svg"/><Relationship Id="rId10" Type="http://schemas.openxmlformats.org/officeDocument/2006/relationships/slide" Target="slide13.xml"/><Relationship Id="rId4" Type="http://schemas.openxmlformats.org/officeDocument/2006/relationships/image" Target="../media/image4.jpg"/><Relationship Id="rId9" Type="http://schemas.openxmlformats.org/officeDocument/2006/relationships/slide" Target="slide10.xml"/><Relationship Id="rId1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2.xml"/><Relationship Id="rId18" Type="http://schemas.openxmlformats.org/officeDocument/2006/relationships/image" Target="../media/image14.svg"/><Relationship Id="rId3" Type="http://schemas.openxmlformats.org/officeDocument/2006/relationships/image" Target="../media/image7.jpg"/><Relationship Id="rId7" Type="http://schemas.openxmlformats.org/officeDocument/2006/relationships/slide" Target="slide16.xml"/><Relationship Id="rId12" Type="http://schemas.openxmlformats.org/officeDocument/2006/relationships/slide" Target="slide15.xml"/><Relationship Id="rId17" Type="http://schemas.openxmlformats.org/officeDocument/2006/relationships/image" Target="../media/image13.png"/><Relationship Id="rId2" Type="http://schemas.openxmlformats.org/officeDocument/2006/relationships/image" Target="../media/image6.png"/><Relationship Id="rId16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slide" Target="slide14.xml"/><Relationship Id="rId5" Type="http://schemas.openxmlformats.org/officeDocument/2006/relationships/image" Target="../media/image9.png"/><Relationship Id="rId15" Type="http://schemas.openxmlformats.org/officeDocument/2006/relationships/image" Target="../media/image12.svg"/><Relationship Id="rId10" Type="http://schemas.openxmlformats.org/officeDocument/2006/relationships/slide" Target="slide13.xml"/><Relationship Id="rId4" Type="http://schemas.openxmlformats.org/officeDocument/2006/relationships/image" Target="../media/image4.jpg"/><Relationship Id="rId9" Type="http://schemas.openxmlformats.org/officeDocument/2006/relationships/slide" Target="slide10.xml"/><Relationship Id="rId1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2.xml"/><Relationship Id="rId18" Type="http://schemas.openxmlformats.org/officeDocument/2006/relationships/image" Target="../media/image14.svg"/><Relationship Id="rId3" Type="http://schemas.openxmlformats.org/officeDocument/2006/relationships/image" Target="../media/image7.jpg"/><Relationship Id="rId7" Type="http://schemas.openxmlformats.org/officeDocument/2006/relationships/slide" Target="slide16.xml"/><Relationship Id="rId12" Type="http://schemas.openxmlformats.org/officeDocument/2006/relationships/slide" Target="slide15.xml"/><Relationship Id="rId17" Type="http://schemas.openxmlformats.org/officeDocument/2006/relationships/image" Target="../media/image13.png"/><Relationship Id="rId2" Type="http://schemas.openxmlformats.org/officeDocument/2006/relationships/image" Target="../media/image6.png"/><Relationship Id="rId16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slide" Target="slide14.xml"/><Relationship Id="rId5" Type="http://schemas.openxmlformats.org/officeDocument/2006/relationships/image" Target="../media/image9.png"/><Relationship Id="rId15" Type="http://schemas.openxmlformats.org/officeDocument/2006/relationships/image" Target="../media/image12.svg"/><Relationship Id="rId10" Type="http://schemas.openxmlformats.org/officeDocument/2006/relationships/slide" Target="slide13.xml"/><Relationship Id="rId4" Type="http://schemas.openxmlformats.org/officeDocument/2006/relationships/image" Target="../media/image4.jpg"/><Relationship Id="rId9" Type="http://schemas.openxmlformats.org/officeDocument/2006/relationships/slide" Target="slide10.xml"/><Relationship Id="rId1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2.xml"/><Relationship Id="rId18" Type="http://schemas.openxmlformats.org/officeDocument/2006/relationships/image" Target="../media/image14.svg"/><Relationship Id="rId3" Type="http://schemas.openxmlformats.org/officeDocument/2006/relationships/image" Target="../media/image7.jpg"/><Relationship Id="rId7" Type="http://schemas.openxmlformats.org/officeDocument/2006/relationships/slide" Target="slide16.xml"/><Relationship Id="rId12" Type="http://schemas.openxmlformats.org/officeDocument/2006/relationships/slide" Target="slide15.xml"/><Relationship Id="rId17" Type="http://schemas.openxmlformats.org/officeDocument/2006/relationships/image" Target="../media/image13.png"/><Relationship Id="rId2" Type="http://schemas.openxmlformats.org/officeDocument/2006/relationships/image" Target="../media/image6.png"/><Relationship Id="rId16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slide" Target="slide14.xml"/><Relationship Id="rId5" Type="http://schemas.openxmlformats.org/officeDocument/2006/relationships/image" Target="../media/image9.png"/><Relationship Id="rId15" Type="http://schemas.openxmlformats.org/officeDocument/2006/relationships/image" Target="../media/image12.svg"/><Relationship Id="rId10" Type="http://schemas.openxmlformats.org/officeDocument/2006/relationships/slide" Target="slide13.xml"/><Relationship Id="rId4" Type="http://schemas.openxmlformats.org/officeDocument/2006/relationships/image" Target="../media/image4.jpg"/><Relationship Id="rId9" Type="http://schemas.openxmlformats.org/officeDocument/2006/relationships/slide" Target="slide10.xml"/><Relationship Id="rId1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2.xml"/><Relationship Id="rId18" Type="http://schemas.openxmlformats.org/officeDocument/2006/relationships/image" Target="../media/image14.svg"/><Relationship Id="rId3" Type="http://schemas.openxmlformats.org/officeDocument/2006/relationships/image" Target="../media/image7.jpg"/><Relationship Id="rId7" Type="http://schemas.openxmlformats.org/officeDocument/2006/relationships/slide" Target="slide16.xml"/><Relationship Id="rId12" Type="http://schemas.openxmlformats.org/officeDocument/2006/relationships/slide" Target="slide15.xml"/><Relationship Id="rId17" Type="http://schemas.openxmlformats.org/officeDocument/2006/relationships/image" Target="../media/image13.png"/><Relationship Id="rId2" Type="http://schemas.openxmlformats.org/officeDocument/2006/relationships/image" Target="../media/image6.png"/><Relationship Id="rId16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slide" Target="slide14.xml"/><Relationship Id="rId5" Type="http://schemas.openxmlformats.org/officeDocument/2006/relationships/image" Target="../media/image9.png"/><Relationship Id="rId15" Type="http://schemas.openxmlformats.org/officeDocument/2006/relationships/image" Target="../media/image12.svg"/><Relationship Id="rId10" Type="http://schemas.openxmlformats.org/officeDocument/2006/relationships/slide" Target="slide13.xml"/><Relationship Id="rId4" Type="http://schemas.openxmlformats.org/officeDocument/2006/relationships/image" Target="../media/image4.jpg"/><Relationship Id="rId9" Type="http://schemas.openxmlformats.org/officeDocument/2006/relationships/slide" Target="slide10.xml"/><Relationship Id="rId1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Casco de color negro&#10;&#10;Descripción generada automáticamente con confianza baja">
            <a:extLst>
              <a:ext uri="{FF2B5EF4-FFF2-40B4-BE49-F238E27FC236}">
                <a16:creationId xmlns:a16="http://schemas.microsoft.com/office/drawing/2014/main" id="{61469931-F72B-4D44-804B-36C96E47E7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5" r="1582"/>
          <a:stretch/>
        </p:blipFill>
        <p:spPr>
          <a:xfrm>
            <a:off x="0" y="0"/>
            <a:ext cx="12192000" cy="6871252"/>
          </a:xfrm>
          <a:prstGeom prst="rect">
            <a:avLst/>
          </a:prstGeom>
        </p:spPr>
      </p:pic>
      <p:sp>
        <p:nvSpPr>
          <p:cNvPr id="9" name="Rectángulo 3">
            <a:extLst>
              <a:ext uri="{FF2B5EF4-FFF2-40B4-BE49-F238E27FC236}">
                <a16:creationId xmlns:a16="http://schemas.microsoft.com/office/drawing/2014/main" id="{A6D1D2AB-3658-4998-925C-9FD78DB72F3D}"/>
              </a:ext>
            </a:extLst>
          </p:cNvPr>
          <p:cNvSpPr/>
          <p:nvPr/>
        </p:nvSpPr>
        <p:spPr>
          <a:xfrm>
            <a:off x="2617304" y="-11990"/>
            <a:ext cx="9037983" cy="6871252"/>
          </a:xfrm>
          <a:custGeom>
            <a:avLst/>
            <a:gdLst>
              <a:gd name="connsiteX0" fmla="*/ 0 w 8229600"/>
              <a:gd name="connsiteY0" fmla="*/ 0 h 6858000"/>
              <a:gd name="connsiteX1" fmla="*/ 8229600 w 8229600"/>
              <a:gd name="connsiteY1" fmla="*/ 0 h 6858000"/>
              <a:gd name="connsiteX2" fmla="*/ 8229600 w 8229600"/>
              <a:gd name="connsiteY2" fmla="*/ 6858000 h 6858000"/>
              <a:gd name="connsiteX3" fmla="*/ 0 w 8229600"/>
              <a:gd name="connsiteY3" fmla="*/ 6858000 h 6858000"/>
              <a:gd name="connsiteX4" fmla="*/ 0 w 8229600"/>
              <a:gd name="connsiteY4" fmla="*/ 0 h 6858000"/>
              <a:gd name="connsiteX0" fmla="*/ 2146852 w 8229600"/>
              <a:gd name="connsiteY0" fmla="*/ 13252 h 6858000"/>
              <a:gd name="connsiteX1" fmla="*/ 8229600 w 8229600"/>
              <a:gd name="connsiteY1" fmla="*/ 0 h 6858000"/>
              <a:gd name="connsiteX2" fmla="*/ 8229600 w 8229600"/>
              <a:gd name="connsiteY2" fmla="*/ 6858000 h 6858000"/>
              <a:gd name="connsiteX3" fmla="*/ 0 w 8229600"/>
              <a:gd name="connsiteY3" fmla="*/ 6858000 h 6858000"/>
              <a:gd name="connsiteX4" fmla="*/ 2146852 w 8229600"/>
              <a:gd name="connsiteY4" fmla="*/ 13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29600" h="6858000">
                <a:moveTo>
                  <a:pt x="2146852" y="13252"/>
                </a:moveTo>
                <a:lnTo>
                  <a:pt x="8229600" y="0"/>
                </a:lnTo>
                <a:lnTo>
                  <a:pt x="8229600" y="6858000"/>
                </a:lnTo>
                <a:lnTo>
                  <a:pt x="0" y="6858000"/>
                </a:lnTo>
                <a:lnTo>
                  <a:pt x="2146852" y="13252"/>
                </a:lnTo>
                <a:close/>
              </a:path>
            </a:pathLst>
          </a:custGeom>
          <a:solidFill>
            <a:srgbClr val="FF32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6CCC27E-2439-48C9-9B34-4AC48C66ADA5}"/>
              </a:ext>
            </a:extLst>
          </p:cNvPr>
          <p:cNvSpPr/>
          <p:nvPr/>
        </p:nvSpPr>
        <p:spPr>
          <a:xfrm>
            <a:off x="3154017" y="-26504"/>
            <a:ext cx="9037983" cy="6897756"/>
          </a:xfrm>
          <a:custGeom>
            <a:avLst/>
            <a:gdLst>
              <a:gd name="connsiteX0" fmla="*/ 0 w 8229600"/>
              <a:gd name="connsiteY0" fmla="*/ 0 h 6858000"/>
              <a:gd name="connsiteX1" fmla="*/ 8229600 w 8229600"/>
              <a:gd name="connsiteY1" fmla="*/ 0 h 6858000"/>
              <a:gd name="connsiteX2" fmla="*/ 8229600 w 8229600"/>
              <a:gd name="connsiteY2" fmla="*/ 6858000 h 6858000"/>
              <a:gd name="connsiteX3" fmla="*/ 0 w 8229600"/>
              <a:gd name="connsiteY3" fmla="*/ 6858000 h 6858000"/>
              <a:gd name="connsiteX4" fmla="*/ 0 w 8229600"/>
              <a:gd name="connsiteY4" fmla="*/ 0 h 6858000"/>
              <a:gd name="connsiteX0" fmla="*/ 2146852 w 8229600"/>
              <a:gd name="connsiteY0" fmla="*/ 13252 h 6858000"/>
              <a:gd name="connsiteX1" fmla="*/ 8229600 w 8229600"/>
              <a:gd name="connsiteY1" fmla="*/ 0 h 6858000"/>
              <a:gd name="connsiteX2" fmla="*/ 8229600 w 8229600"/>
              <a:gd name="connsiteY2" fmla="*/ 6858000 h 6858000"/>
              <a:gd name="connsiteX3" fmla="*/ 0 w 8229600"/>
              <a:gd name="connsiteY3" fmla="*/ 6858000 h 6858000"/>
              <a:gd name="connsiteX4" fmla="*/ 2146852 w 8229600"/>
              <a:gd name="connsiteY4" fmla="*/ 13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29600" h="6858000">
                <a:moveTo>
                  <a:pt x="2146852" y="13252"/>
                </a:moveTo>
                <a:lnTo>
                  <a:pt x="8229600" y="0"/>
                </a:lnTo>
                <a:lnTo>
                  <a:pt x="8229600" y="6858000"/>
                </a:lnTo>
                <a:lnTo>
                  <a:pt x="0" y="6858000"/>
                </a:lnTo>
                <a:lnTo>
                  <a:pt x="2146852" y="1325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A4A2F7C8-00CF-4C28-9D7E-60533B9EDE81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7" name="Imagen 16" descr="Logotipo&#10;&#10;Descripción generada automáticamente">
            <a:extLst>
              <a:ext uri="{FF2B5EF4-FFF2-40B4-BE49-F238E27FC236}">
                <a16:creationId xmlns:a16="http://schemas.microsoft.com/office/drawing/2014/main" id="{9596001F-0A3B-44B7-AD71-08014BA3A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536" y="274435"/>
            <a:ext cx="5526638" cy="5526638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63AE0453-1FB1-4006-A6EA-FE119C46FE50}"/>
              </a:ext>
            </a:extLst>
          </p:cNvPr>
          <p:cNvGrpSpPr/>
          <p:nvPr/>
        </p:nvGrpSpPr>
        <p:grpSpPr>
          <a:xfrm>
            <a:off x="9610268" y="-324289"/>
            <a:ext cx="2581732" cy="7195541"/>
            <a:chOff x="9610268" y="-324289"/>
            <a:chExt cx="2581732" cy="7195541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D25A690-B7DD-4A33-AAF5-695E8736654C}"/>
                </a:ext>
              </a:extLst>
            </p:cNvPr>
            <p:cNvSpPr/>
            <p:nvPr/>
          </p:nvSpPr>
          <p:spPr>
            <a:xfrm>
              <a:off x="9639995" y="-26504"/>
              <a:ext cx="2552005" cy="6897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9" name="Google Shape;92;p13">
              <a:extLst>
                <a:ext uri="{FF2B5EF4-FFF2-40B4-BE49-F238E27FC236}">
                  <a16:creationId xmlns:a16="http://schemas.microsoft.com/office/drawing/2014/main" id="{F57A336A-15FA-4443-AED2-86B98280812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610268" y="-324289"/>
              <a:ext cx="2552005" cy="60988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10EDD328-4F7E-4B5F-A1EE-7B1166D3DB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90" r="13515"/>
            <a:stretch/>
          </p:blipFill>
          <p:spPr>
            <a:xfrm>
              <a:off x="9683538" y="5399315"/>
              <a:ext cx="2451420" cy="14006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692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-0.53815 -0.00093 " pathEditMode="relative" rAng="0" ptsTypes="AA">
                                      <p:cBhvr>
                                        <p:cTn id="6" dur="3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14" y="-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0B1C8E1-9C30-4EC3-9387-CD95052680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80" t="-175" r="1874" b="175"/>
          <a:stretch/>
        </p:blipFill>
        <p:spPr bwMode="auto">
          <a:xfrm>
            <a:off x="0" y="-11990"/>
            <a:ext cx="12192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3">
            <a:extLst>
              <a:ext uri="{FF2B5EF4-FFF2-40B4-BE49-F238E27FC236}">
                <a16:creationId xmlns:a16="http://schemas.microsoft.com/office/drawing/2014/main" id="{A6D1D2AB-3658-4998-925C-9FD78DB72F3D}"/>
              </a:ext>
            </a:extLst>
          </p:cNvPr>
          <p:cNvSpPr/>
          <p:nvPr/>
        </p:nvSpPr>
        <p:spPr>
          <a:xfrm>
            <a:off x="2617304" y="-11990"/>
            <a:ext cx="9037983" cy="6871252"/>
          </a:xfrm>
          <a:custGeom>
            <a:avLst/>
            <a:gdLst>
              <a:gd name="connsiteX0" fmla="*/ 0 w 8229600"/>
              <a:gd name="connsiteY0" fmla="*/ 0 h 6858000"/>
              <a:gd name="connsiteX1" fmla="*/ 8229600 w 8229600"/>
              <a:gd name="connsiteY1" fmla="*/ 0 h 6858000"/>
              <a:gd name="connsiteX2" fmla="*/ 8229600 w 8229600"/>
              <a:gd name="connsiteY2" fmla="*/ 6858000 h 6858000"/>
              <a:gd name="connsiteX3" fmla="*/ 0 w 8229600"/>
              <a:gd name="connsiteY3" fmla="*/ 6858000 h 6858000"/>
              <a:gd name="connsiteX4" fmla="*/ 0 w 8229600"/>
              <a:gd name="connsiteY4" fmla="*/ 0 h 6858000"/>
              <a:gd name="connsiteX0" fmla="*/ 2146852 w 8229600"/>
              <a:gd name="connsiteY0" fmla="*/ 13252 h 6858000"/>
              <a:gd name="connsiteX1" fmla="*/ 8229600 w 8229600"/>
              <a:gd name="connsiteY1" fmla="*/ 0 h 6858000"/>
              <a:gd name="connsiteX2" fmla="*/ 8229600 w 8229600"/>
              <a:gd name="connsiteY2" fmla="*/ 6858000 h 6858000"/>
              <a:gd name="connsiteX3" fmla="*/ 0 w 8229600"/>
              <a:gd name="connsiteY3" fmla="*/ 6858000 h 6858000"/>
              <a:gd name="connsiteX4" fmla="*/ 2146852 w 8229600"/>
              <a:gd name="connsiteY4" fmla="*/ 13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29600" h="6858000">
                <a:moveTo>
                  <a:pt x="2146852" y="13252"/>
                </a:moveTo>
                <a:lnTo>
                  <a:pt x="8229600" y="0"/>
                </a:lnTo>
                <a:lnTo>
                  <a:pt x="8229600" y="6858000"/>
                </a:lnTo>
                <a:lnTo>
                  <a:pt x="0" y="6858000"/>
                </a:lnTo>
                <a:lnTo>
                  <a:pt x="2146852" y="13252"/>
                </a:lnTo>
                <a:close/>
              </a:path>
            </a:pathLst>
          </a:custGeom>
          <a:solidFill>
            <a:srgbClr val="FF32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6CCC27E-2439-48C9-9B34-4AC48C66ADA5}"/>
              </a:ext>
            </a:extLst>
          </p:cNvPr>
          <p:cNvSpPr/>
          <p:nvPr/>
        </p:nvSpPr>
        <p:spPr>
          <a:xfrm>
            <a:off x="3154017" y="-26504"/>
            <a:ext cx="9037983" cy="6897756"/>
          </a:xfrm>
          <a:custGeom>
            <a:avLst/>
            <a:gdLst>
              <a:gd name="connsiteX0" fmla="*/ 0 w 8229600"/>
              <a:gd name="connsiteY0" fmla="*/ 0 h 6858000"/>
              <a:gd name="connsiteX1" fmla="*/ 8229600 w 8229600"/>
              <a:gd name="connsiteY1" fmla="*/ 0 h 6858000"/>
              <a:gd name="connsiteX2" fmla="*/ 8229600 w 8229600"/>
              <a:gd name="connsiteY2" fmla="*/ 6858000 h 6858000"/>
              <a:gd name="connsiteX3" fmla="*/ 0 w 8229600"/>
              <a:gd name="connsiteY3" fmla="*/ 6858000 h 6858000"/>
              <a:gd name="connsiteX4" fmla="*/ 0 w 8229600"/>
              <a:gd name="connsiteY4" fmla="*/ 0 h 6858000"/>
              <a:gd name="connsiteX0" fmla="*/ 2146852 w 8229600"/>
              <a:gd name="connsiteY0" fmla="*/ 13252 h 6858000"/>
              <a:gd name="connsiteX1" fmla="*/ 8229600 w 8229600"/>
              <a:gd name="connsiteY1" fmla="*/ 0 h 6858000"/>
              <a:gd name="connsiteX2" fmla="*/ 8229600 w 8229600"/>
              <a:gd name="connsiteY2" fmla="*/ 6858000 h 6858000"/>
              <a:gd name="connsiteX3" fmla="*/ 0 w 8229600"/>
              <a:gd name="connsiteY3" fmla="*/ 6858000 h 6858000"/>
              <a:gd name="connsiteX4" fmla="*/ 2146852 w 8229600"/>
              <a:gd name="connsiteY4" fmla="*/ 13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29600" h="6858000">
                <a:moveTo>
                  <a:pt x="2146852" y="13252"/>
                </a:moveTo>
                <a:lnTo>
                  <a:pt x="8229600" y="0"/>
                </a:lnTo>
                <a:lnTo>
                  <a:pt x="8229600" y="6858000"/>
                </a:lnTo>
                <a:lnTo>
                  <a:pt x="0" y="6858000"/>
                </a:lnTo>
                <a:lnTo>
                  <a:pt x="2146852" y="1325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A4A2F7C8-00CF-4C28-9D7E-60533B9EDE81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96E6FADA-ED5B-492B-9702-E1E532F14C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11" r="30873" b="27106"/>
          <a:stretch/>
        </p:blipFill>
        <p:spPr>
          <a:xfrm>
            <a:off x="758689" y="4659595"/>
            <a:ext cx="1702904" cy="1871834"/>
          </a:xfrm>
          <a:prstGeom prst="rect">
            <a:avLst/>
          </a:prstGeom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ED25A2AA-DC04-496D-B579-2AB823294353}"/>
              </a:ext>
            </a:extLst>
          </p:cNvPr>
          <p:cNvGrpSpPr/>
          <p:nvPr/>
        </p:nvGrpSpPr>
        <p:grpSpPr>
          <a:xfrm>
            <a:off x="9639995" y="-26504"/>
            <a:ext cx="2552005" cy="6897756"/>
            <a:chOff x="9639995" y="-26504"/>
            <a:chExt cx="2552005" cy="6897756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B40E1460-52CC-4433-B769-17636EEC215D}"/>
                </a:ext>
              </a:extLst>
            </p:cNvPr>
            <p:cNvSpPr/>
            <p:nvPr/>
          </p:nvSpPr>
          <p:spPr>
            <a:xfrm>
              <a:off x="9639995" y="-26504"/>
              <a:ext cx="2552005" cy="6897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BDC1F7E9-B09D-4743-B39F-D6FBB1C564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90" r="13515" b="7074"/>
            <a:stretch/>
          </p:blipFill>
          <p:spPr>
            <a:xfrm>
              <a:off x="9683538" y="5544455"/>
              <a:ext cx="2451420" cy="1301555"/>
            </a:xfrm>
            <a:prstGeom prst="rect">
              <a:avLst/>
            </a:prstGeom>
          </p:spPr>
        </p:pic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F269E7E-663B-4EBD-A692-FDABDB66F78A}"/>
              </a:ext>
            </a:extLst>
          </p:cNvPr>
          <p:cNvSpPr txBox="1"/>
          <p:nvPr/>
        </p:nvSpPr>
        <p:spPr>
          <a:xfrm>
            <a:off x="4988340" y="1744787"/>
            <a:ext cx="441872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solidFill>
                  <a:schemeClr val="bg1"/>
                </a:solidFill>
              </a:rPr>
              <a:t>DISEÑO DE UN SISTEMA AUTOMATIZADO PARA LA GESTION DE LA SEGURIDAD Y SALUD EN EL TRABAJO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5290540-A207-4AE0-9012-344F10A5C4FB}"/>
              </a:ext>
            </a:extLst>
          </p:cNvPr>
          <p:cNvSpPr txBox="1"/>
          <p:nvPr/>
        </p:nvSpPr>
        <p:spPr>
          <a:xfrm>
            <a:off x="5820388" y="4636090"/>
            <a:ext cx="33399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>
                <a:solidFill>
                  <a:schemeClr val="bg1"/>
                </a:solidFill>
              </a:rPr>
              <a:t>Luis Alfredo Rangel González</a:t>
            </a:r>
            <a:endParaRPr lang="es-CO" sz="20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014EF5B-4757-48A3-88EB-ABED5B9BE8B0}"/>
              </a:ext>
            </a:extLst>
          </p:cNvPr>
          <p:cNvSpPr txBox="1"/>
          <p:nvPr/>
        </p:nvSpPr>
        <p:spPr>
          <a:xfrm>
            <a:off x="5820387" y="5317445"/>
            <a:ext cx="338347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dirty="0">
                <a:solidFill>
                  <a:schemeClr val="bg1"/>
                </a:solidFill>
              </a:rPr>
              <a:t>Dirigido por:</a:t>
            </a:r>
          </a:p>
          <a:p>
            <a:r>
              <a:rPr lang="es-CO" sz="2000" dirty="0">
                <a:solidFill>
                  <a:schemeClr val="bg1"/>
                </a:solidFill>
              </a:rPr>
              <a:t>Nombre del docente</a:t>
            </a:r>
            <a:endParaRPr lang="es-CO" sz="20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211124FD-D533-4664-BAA4-4CABE5A573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002" y="1667469"/>
            <a:ext cx="1800116" cy="4124962"/>
          </a:xfrm>
          <a:prstGeom prst="rect">
            <a:avLst/>
          </a:prstGeom>
        </p:spPr>
      </p:pic>
      <p:pic>
        <p:nvPicPr>
          <p:cNvPr id="28" name="Google Shape;104;p14">
            <a:extLst>
              <a:ext uri="{FF2B5EF4-FFF2-40B4-BE49-F238E27FC236}">
                <a16:creationId xmlns:a16="http://schemas.microsoft.com/office/drawing/2014/main" id="{DEB0F3BE-E608-4AD8-89E6-7F788EC36E6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30306" y="-2524"/>
            <a:ext cx="1755868" cy="22367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99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-0.25 1.85185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7" y="5725695"/>
            <a:ext cx="4095030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Introducción</a:t>
              </a:r>
              <a:r>
                <a:rPr lang="es-ES" sz="2400" dirty="0"/>
                <a:t> </a:t>
              </a:r>
              <a:endParaRPr sz="2400" dirty="0"/>
            </a:p>
          </p:txBody>
        </p:sp>
      </p:grpSp>
      <p:grpSp>
        <p:nvGrpSpPr>
          <p:cNvPr id="74" name="Google Shape;13662;p77">
            <a:extLst>
              <a:ext uri="{FF2B5EF4-FFF2-40B4-BE49-F238E27FC236}">
                <a16:creationId xmlns:a16="http://schemas.microsoft.com/office/drawing/2014/main" id="{1ABF6B49-33C8-4CDD-AE94-2A25275E2B7A}"/>
              </a:ext>
            </a:extLst>
          </p:cNvPr>
          <p:cNvGrpSpPr/>
          <p:nvPr/>
        </p:nvGrpSpPr>
        <p:grpSpPr>
          <a:xfrm>
            <a:off x="3651211" y="3366159"/>
            <a:ext cx="8217522" cy="323"/>
            <a:chOff x="3720318" y="1857562"/>
            <a:chExt cx="1372125" cy="54"/>
          </a:xfrm>
        </p:grpSpPr>
        <p:cxnSp>
          <p:nvCxnSpPr>
            <p:cNvPr id="91" name="Google Shape;13663;p77">
              <a:extLst>
                <a:ext uri="{FF2B5EF4-FFF2-40B4-BE49-F238E27FC236}">
                  <a16:creationId xmlns:a16="http://schemas.microsoft.com/office/drawing/2014/main" id="{0F685DED-B4D5-47D6-B4F8-1AAC177E1099}"/>
                </a:ext>
              </a:extLst>
            </p:cNvPr>
            <p:cNvCxnSpPr>
              <a:endCxn id="81" idx="2"/>
            </p:cNvCxnSpPr>
            <p:nvPr/>
          </p:nvCxnSpPr>
          <p:spPr>
            <a:xfrm>
              <a:off x="4440243" y="1857616"/>
              <a:ext cx="173400" cy="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13665;p77">
              <a:extLst>
                <a:ext uri="{FF2B5EF4-FFF2-40B4-BE49-F238E27FC236}">
                  <a16:creationId xmlns:a16="http://schemas.microsoft.com/office/drawing/2014/main" id="{E85BAF98-E5D2-4B1B-94A7-DA0D4AD781A1}"/>
                </a:ext>
              </a:extLst>
            </p:cNvPr>
            <p:cNvCxnSpPr/>
            <p:nvPr/>
          </p:nvCxnSpPr>
          <p:spPr>
            <a:xfrm>
              <a:off x="4074943" y="1857562"/>
              <a:ext cx="173400" cy="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13666;p77">
              <a:extLst>
                <a:ext uri="{FF2B5EF4-FFF2-40B4-BE49-F238E27FC236}">
                  <a16:creationId xmlns:a16="http://schemas.microsoft.com/office/drawing/2014/main" id="{8ADECE9F-0E0C-4B68-B668-56107A282B44}"/>
                </a:ext>
              </a:extLst>
            </p:cNvPr>
            <p:cNvCxnSpPr/>
            <p:nvPr/>
          </p:nvCxnSpPr>
          <p:spPr>
            <a:xfrm>
              <a:off x="3720318" y="1857562"/>
              <a:ext cx="173400" cy="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13667;p77">
              <a:extLst>
                <a:ext uri="{FF2B5EF4-FFF2-40B4-BE49-F238E27FC236}">
                  <a16:creationId xmlns:a16="http://schemas.microsoft.com/office/drawing/2014/main" id="{BD059115-6305-4D91-9809-4BA8F3395B5E}"/>
                </a:ext>
              </a:extLst>
            </p:cNvPr>
            <p:cNvCxnSpPr>
              <a:stCxn id="81" idx="6"/>
            </p:cNvCxnSpPr>
            <p:nvPr/>
          </p:nvCxnSpPr>
          <p:spPr>
            <a:xfrm>
              <a:off x="4801443" y="1857616"/>
              <a:ext cx="291000" cy="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75" name="Google Shape;13668;p77">
            <a:extLst>
              <a:ext uri="{FF2B5EF4-FFF2-40B4-BE49-F238E27FC236}">
                <a16:creationId xmlns:a16="http://schemas.microsoft.com/office/drawing/2014/main" id="{EA6D1C2B-7D2B-4D7B-A830-6A4306D55DD2}"/>
              </a:ext>
            </a:extLst>
          </p:cNvPr>
          <p:cNvGrpSpPr/>
          <p:nvPr/>
        </p:nvGrpSpPr>
        <p:grpSpPr>
          <a:xfrm>
            <a:off x="2735771" y="1201908"/>
            <a:ext cx="3065761" cy="1634461"/>
            <a:chOff x="3567462" y="1496185"/>
            <a:chExt cx="511907" cy="272915"/>
          </a:xfrm>
        </p:grpSpPr>
        <p:cxnSp>
          <p:nvCxnSpPr>
            <p:cNvPr id="89" name="Google Shape;13669;p77">
              <a:extLst>
                <a:ext uri="{FF2B5EF4-FFF2-40B4-BE49-F238E27FC236}">
                  <a16:creationId xmlns:a16="http://schemas.microsoft.com/office/drawing/2014/main" id="{763AC7DC-AA5F-4DB8-966B-717EFDB979D1}"/>
                </a:ext>
              </a:extLst>
            </p:cNvPr>
            <p:cNvCxnSpPr/>
            <p:nvPr/>
          </p:nvCxnSpPr>
          <p:spPr>
            <a:xfrm rot="10800000">
              <a:off x="3626625" y="1596000"/>
              <a:ext cx="0" cy="1731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0" name="Google Shape;13670;p77">
              <a:extLst>
                <a:ext uri="{FF2B5EF4-FFF2-40B4-BE49-F238E27FC236}">
                  <a16:creationId xmlns:a16="http://schemas.microsoft.com/office/drawing/2014/main" id="{F18FBE13-6976-42DE-B3D1-D6426A97A92A}"/>
                </a:ext>
              </a:extLst>
            </p:cNvPr>
            <p:cNvSpPr/>
            <p:nvPr/>
          </p:nvSpPr>
          <p:spPr>
            <a:xfrm>
              <a:off x="3567462" y="1496185"/>
              <a:ext cx="511907" cy="999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s-ES" sz="2400" dirty="0"/>
                <a:t>Decreto 1072 de 2015</a:t>
              </a:r>
              <a:endParaRPr sz="2400" dirty="0"/>
            </a:p>
          </p:txBody>
        </p:sp>
      </p:grpSp>
      <p:sp>
        <p:nvSpPr>
          <p:cNvPr id="76" name="Google Shape;13671;p77">
            <a:extLst>
              <a:ext uri="{FF2B5EF4-FFF2-40B4-BE49-F238E27FC236}">
                <a16:creationId xmlns:a16="http://schemas.microsoft.com/office/drawing/2014/main" id="{71A5F2CA-C8AF-40A0-976F-C0FA6C097079}"/>
              </a:ext>
            </a:extLst>
          </p:cNvPr>
          <p:cNvSpPr/>
          <p:nvPr/>
        </p:nvSpPr>
        <p:spPr>
          <a:xfrm>
            <a:off x="2514601" y="2853569"/>
            <a:ext cx="1124716" cy="1124715"/>
          </a:xfrm>
          <a:prstGeom prst="ellipse">
            <a:avLst/>
          </a:prstGeom>
          <a:solidFill>
            <a:srgbClr val="66FF33"/>
          </a:solidFill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s-ES" sz="4000" dirty="0"/>
              <a:t>01</a:t>
            </a:r>
            <a:endParaRPr sz="4000" dirty="0"/>
          </a:p>
        </p:txBody>
      </p:sp>
      <p:sp>
        <p:nvSpPr>
          <p:cNvPr id="77" name="Google Shape;13672;p77">
            <a:extLst>
              <a:ext uri="{FF2B5EF4-FFF2-40B4-BE49-F238E27FC236}">
                <a16:creationId xmlns:a16="http://schemas.microsoft.com/office/drawing/2014/main" id="{4F588A90-5798-4D63-B962-FAE30CF7E855}"/>
              </a:ext>
            </a:extLst>
          </p:cNvPr>
          <p:cNvSpPr/>
          <p:nvPr/>
        </p:nvSpPr>
        <p:spPr>
          <a:xfrm>
            <a:off x="4676816" y="2896911"/>
            <a:ext cx="1124716" cy="1124715"/>
          </a:xfrm>
          <a:prstGeom prst="ellipse">
            <a:avLst/>
          </a:prstGeom>
          <a:solidFill>
            <a:srgbClr val="00FFFF"/>
          </a:solidFill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s-ES" sz="4000" dirty="0"/>
              <a:t>02</a:t>
            </a:r>
            <a:endParaRPr sz="4000" dirty="0"/>
          </a:p>
        </p:txBody>
      </p:sp>
      <p:grpSp>
        <p:nvGrpSpPr>
          <p:cNvPr id="78" name="Google Shape;13673;p77">
            <a:extLst>
              <a:ext uri="{FF2B5EF4-FFF2-40B4-BE49-F238E27FC236}">
                <a16:creationId xmlns:a16="http://schemas.microsoft.com/office/drawing/2014/main" id="{C0B3AE26-017D-4C93-B2C3-7D97AE224870}"/>
              </a:ext>
            </a:extLst>
          </p:cNvPr>
          <p:cNvGrpSpPr/>
          <p:nvPr/>
        </p:nvGrpSpPr>
        <p:grpSpPr>
          <a:xfrm>
            <a:off x="4901071" y="3983087"/>
            <a:ext cx="1715820" cy="1451362"/>
            <a:chOff x="3929014" y="1960574"/>
            <a:chExt cx="286500" cy="242342"/>
          </a:xfrm>
        </p:grpSpPr>
        <p:cxnSp>
          <p:nvCxnSpPr>
            <p:cNvPr id="87" name="Google Shape;13674;p77">
              <a:extLst>
                <a:ext uri="{FF2B5EF4-FFF2-40B4-BE49-F238E27FC236}">
                  <a16:creationId xmlns:a16="http://schemas.microsoft.com/office/drawing/2014/main" id="{383347F0-4E27-4928-892D-47252E7AB585}"/>
                </a:ext>
              </a:extLst>
            </p:cNvPr>
            <p:cNvCxnSpPr/>
            <p:nvPr/>
          </p:nvCxnSpPr>
          <p:spPr>
            <a:xfrm rot="10800000">
              <a:off x="3988400" y="1960574"/>
              <a:ext cx="0" cy="1443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8" name="Google Shape;13675;p77">
              <a:extLst>
                <a:ext uri="{FF2B5EF4-FFF2-40B4-BE49-F238E27FC236}">
                  <a16:creationId xmlns:a16="http://schemas.microsoft.com/office/drawing/2014/main" id="{2617F1EB-2729-48BB-8929-CCB1AD7AFA32}"/>
                </a:ext>
              </a:extLst>
            </p:cNvPr>
            <p:cNvSpPr/>
            <p:nvPr/>
          </p:nvSpPr>
          <p:spPr>
            <a:xfrm>
              <a:off x="3929014" y="2103016"/>
              <a:ext cx="286500" cy="999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s-ES" sz="2400" dirty="0"/>
                <a:t>SG - SST</a:t>
              </a:r>
              <a:endParaRPr sz="2400" dirty="0"/>
            </a:p>
          </p:txBody>
        </p:sp>
      </p:grpSp>
      <p:grpSp>
        <p:nvGrpSpPr>
          <p:cNvPr id="79" name="Google Shape;13676;p77">
            <a:extLst>
              <a:ext uri="{FF2B5EF4-FFF2-40B4-BE49-F238E27FC236}">
                <a16:creationId xmlns:a16="http://schemas.microsoft.com/office/drawing/2014/main" id="{23007FE9-675A-495F-B23C-F579CB03BC45}"/>
              </a:ext>
            </a:extLst>
          </p:cNvPr>
          <p:cNvGrpSpPr/>
          <p:nvPr/>
        </p:nvGrpSpPr>
        <p:grpSpPr>
          <a:xfrm>
            <a:off x="7067939" y="1201908"/>
            <a:ext cx="1715820" cy="1634455"/>
            <a:chOff x="4290828" y="1496185"/>
            <a:chExt cx="286500" cy="272914"/>
          </a:xfrm>
        </p:grpSpPr>
        <p:cxnSp>
          <p:nvCxnSpPr>
            <p:cNvPr id="85" name="Google Shape;13677;p77">
              <a:extLst>
                <a:ext uri="{FF2B5EF4-FFF2-40B4-BE49-F238E27FC236}">
                  <a16:creationId xmlns:a16="http://schemas.microsoft.com/office/drawing/2014/main" id="{B221AFFC-CD37-4E75-86E3-626E18738D9B}"/>
                </a:ext>
              </a:extLst>
            </p:cNvPr>
            <p:cNvCxnSpPr/>
            <p:nvPr/>
          </p:nvCxnSpPr>
          <p:spPr>
            <a:xfrm rot="10800000">
              <a:off x="4350000" y="1596000"/>
              <a:ext cx="0" cy="1731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6" name="Google Shape;13678;p77">
              <a:extLst>
                <a:ext uri="{FF2B5EF4-FFF2-40B4-BE49-F238E27FC236}">
                  <a16:creationId xmlns:a16="http://schemas.microsoft.com/office/drawing/2014/main" id="{1AABBE82-3E82-4087-AFAF-DB596E4F8D33}"/>
                </a:ext>
              </a:extLst>
            </p:cNvPr>
            <p:cNvSpPr/>
            <p:nvPr/>
          </p:nvSpPr>
          <p:spPr>
            <a:xfrm>
              <a:off x="4290828" y="1496185"/>
              <a:ext cx="286500" cy="999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s-ES" sz="2400" dirty="0"/>
                <a:t>ISO 9001</a:t>
              </a:r>
              <a:endParaRPr sz="2400" dirty="0"/>
            </a:p>
          </p:txBody>
        </p:sp>
      </p:grpSp>
      <p:sp>
        <p:nvSpPr>
          <p:cNvPr id="80" name="Google Shape;13679;p77">
            <a:extLst>
              <a:ext uri="{FF2B5EF4-FFF2-40B4-BE49-F238E27FC236}">
                <a16:creationId xmlns:a16="http://schemas.microsoft.com/office/drawing/2014/main" id="{90B5D334-E45E-4D57-B765-7AFC85111690}"/>
              </a:ext>
            </a:extLst>
          </p:cNvPr>
          <p:cNvSpPr/>
          <p:nvPr/>
        </p:nvSpPr>
        <p:spPr>
          <a:xfrm>
            <a:off x="6839031" y="2853569"/>
            <a:ext cx="1124716" cy="1124715"/>
          </a:xfrm>
          <a:prstGeom prst="ellipse">
            <a:avLst/>
          </a:prstGeom>
          <a:solidFill>
            <a:srgbClr val="FE8602"/>
          </a:solidFill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s-ES" sz="4000" dirty="0"/>
              <a:t>03</a:t>
            </a:r>
            <a:endParaRPr sz="4000" dirty="0"/>
          </a:p>
        </p:txBody>
      </p:sp>
      <p:sp>
        <p:nvSpPr>
          <p:cNvPr id="81" name="Google Shape;13664;p77">
            <a:extLst>
              <a:ext uri="{FF2B5EF4-FFF2-40B4-BE49-F238E27FC236}">
                <a16:creationId xmlns:a16="http://schemas.microsoft.com/office/drawing/2014/main" id="{35176CB5-B5BC-47F1-A1B6-1CBC7E3D95B7}"/>
              </a:ext>
            </a:extLst>
          </p:cNvPr>
          <p:cNvSpPr/>
          <p:nvPr/>
        </p:nvSpPr>
        <p:spPr>
          <a:xfrm>
            <a:off x="9001247" y="2804124"/>
            <a:ext cx="1124716" cy="1124715"/>
          </a:xfrm>
          <a:prstGeom prst="ellipse">
            <a:avLst/>
          </a:prstGeom>
          <a:solidFill>
            <a:srgbClr val="FFFF00"/>
          </a:solidFill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s-ES" sz="4000" dirty="0"/>
              <a:t>04</a:t>
            </a:r>
            <a:endParaRPr sz="4000" dirty="0"/>
          </a:p>
        </p:txBody>
      </p:sp>
      <p:grpSp>
        <p:nvGrpSpPr>
          <p:cNvPr id="82" name="Google Shape;13680;p77">
            <a:extLst>
              <a:ext uri="{FF2B5EF4-FFF2-40B4-BE49-F238E27FC236}">
                <a16:creationId xmlns:a16="http://schemas.microsoft.com/office/drawing/2014/main" id="{1B9EDCC0-DC7C-4B74-BEA7-50051CD99EE7}"/>
              </a:ext>
            </a:extLst>
          </p:cNvPr>
          <p:cNvGrpSpPr/>
          <p:nvPr/>
        </p:nvGrpSpPr>
        <p:grpSpPr>
          <a:xfrm>
            <a:off x="8783760" y="3977697"/>
            <a:ext cx="2197316" cy="1467832"/>
            <a:chOff x="4577328" y="1959674"/>
            <a:chExt cx="366898" cy="245092"/>
          </a:xfrm>
        </p:grpSpPr>
        <p:cxnSp>
          <p:nvCxnSpPr>
            <p:cNvPr id="83" name="Google Shape;13681;p77">
              <a:extLst>
                <a:ext uri="{FF2B5EF4-FFF2-40B4-BE49-F238E27FC236}">
                  <a16:creationId xmlns:a16="http://schemas.microsoft.com/office/drawing/2014/main" id="{B66B8568-D71D-4D5B-AC77-0AB2A4CD5E00}"/>
                </a:ext>
              </a:extLst>
            </p:cNvPr>
            <p:cNvCxnSpPr/>
            <p:nvPr/>
          </p:nvCxnSpPr>
          <p:spPr>
            <a:xfrm rot="10800000">
              <a:off x="4707475" y="1959674"/>
              <a:ext cx="0" cy="1452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4" name="Google Shape;13682;p77">
              <a:extLst>
                <a:ext uri="{FF2B5EF4-FFF2-40B4-BE49-F238E27FC236}">
                  <a16:creationId xmlns:a16="http://schemas.microsoft.com/office/drawing/2014/main" id="{0EF8265A-1CED-47B1-94D0-D3019E328D96}"/>
                </a:ext>
              </a:extLst>
            </p:cNvPr>
            <p:cNvSpPr/>
            <p:nvPr/>
          </p:nvSpPr>
          <p:spPr>
            <a:xfrm>
              <a:off x="4577328" y="2104866"/>
              <a:ext cx="366898" cy="999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s-ES" sz="2400" dirty="0"/>
                <a:t>Valor / Marca</a:t>
              </a:r>
              <a:endParaRPr sz="2400" dirty="0"/>
            </a:p>
          </p:txBody>
        </p:sp>
      </p:grpSp>
      <p:pic>
        <p:nvPicPr>
          <p:cNvPr id="30" name="Imagen 29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B7987FA8-A0ED-4E89-BD29-F1D0B8E1F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31" name="Google Shape;123;p16">
            <a:extLst>
              <a:ext uri="{FF2B5EF4-FFF2-40B4-BE49-F238E27FC236}">
                <a16:creationId xmlns:a16="http://schemas.microsoft.com/office/drawing/2014/main" id="{A158C6B8-586D-4A18-8812-254321EF4F4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9154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5" name="Google Shape;6873;p75">
            <a:extLst>
              <a:ext uri="{FF2B5EF4-FFF2-40B4-BE49-F238E27FC236}">
                <a16:creationId xmlns:a16="http://schemas.microsoft.com/office/drawing/2014/main" id="{A3A226BE-55D1-4D14-9891-3473CB2E84B9}"/>
              </a:ext>
            </a:extLst>
          </p:cNvPr>
          <p:cNvGrpSpPr/>
          <p:nvPr/>
        </p:nvGrpSpPr>
        <p:grpSpPr>
          <a:xfrm>
            <a:off x="164897" y="5725695"/>
            <a:ext cx="3873703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" name="Google Shape;6874;p75">
              <a:extLst>
                <a:ext uri="{FF2B5EF4-FFF2-40B4-BE49-F238E27FC236}">
                  <a16:creationId xmlns:a16="http://schemas.microsoft.com/office/drawing/2014/main" id="{FAFD00B9-6FF8-4434-A2C9-1143269F20B0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Google Shape;6875;p75">
              <a:extLst>
                <a:ext uri="{FF2B5EF4-FFF2-40B4-BE49-F238E27FC236}">
                  <a16:creationId xmlns:a16="http://schemas.microsoft.com/office/drawing/2014/main" id="{45C553F3-642A-46B0-9DD5-FCE60C5D6489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Google Shape;6876;p75">
              <a:extLst>
                <a:ext uri="{FF2B5EF4-FFF2-40B4-BE49-F238E27FC236}">
                  <a16:creationId xmlns:a16="http://schemas.microsoft.com/office/drawing/2014/main" id="{3FA61FB9-0D86-46F4-BCA9-50CA5FCF9CD3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Importancia</a:t>
              </a:r>
              <a:r>
                <a:rPr lang="es-ES" sz="2400" dirty="0"/>
                <a:t> </a:t>
              </a:r>
              <a:endParaRPr sz="2400" dirty="0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9E7E2E25-4B02-4BD3-BFCA-24EF5EA59A67}"/>
              </a:ext>
            </a:extLst>
          </p:cNvPr>
          <p:cNvGrpSpPr/>
          <p:nvPr/>
        </p:nvGrpSpPr>
        <p:grpSpPr>
          <a:xfrm>
            <a:off x="1926583" y="1259400"/>
            <a:ext cx="5396120" cy="3309428"/>
            <a:chOff x="2100887" y="434189"/>
            <a:chExt cx="6012619" cy="2994811"/>
          </a:xfrm>
        </p:grpSpPr>
        <p:sp>
          <p:nvSpPr>
            <p:cNvPr id="14" name="Google Shape;14302;p79">
              <a:extLst>
                <a:ext uri="{FF2B5EF4-FFF2-40B4-BE49-F238E27FC236}">
                  <a16:creationId xmlns:a16="http://schemas.microsoft.com/office/drawing/2014/main" id="{00E87831-1145-4FFE-B57B-6AF9FEAC1F1F}"/>
                </a:ext>
              </a:extLst>
            </p:cNvPr>
            <p:cNvSpPr/>
            <p:nvPr/>
          </p:nvSpPr>
          <p:spPr>
            <a:xfrm rot="16200000">
              <a:off x="3440135" y="-877864"/>
              <a:ext cx="2994811" cy="5618918"/>
            </a:xfrm>
            <a:custGeom>
              <a:avLst/>
              <a:gdLst/>
              <a:ahLst/>
              <a:cxnLst/>
              <a:rect l="l" t="t" r="r" b="b"/>
              <a:pathLst>
                <a:path w="14910" h="22743" extrusionOk="0">
                  <a:moveTo>
                    <a:pt x="7449" y="0"/>
                  </a:moveTo>
                  <a:cubicBezTo>
                    <a:pt x="7363" y="0"/>
                    <a:pt x="7277" y="40"/>
                    <a:pt x="7219" y="121"/>
                  </a:cubicBezTo>
                  <a:lnTo>
                    <a:pt x="4981" y="3220"/>
                  </a:lnTo>
                  <a:lnTo>
                    <a:pt x="1079" y="3220"/>
                  </a:lnTo>
                  <a:cubicBezTo>
                    <a:pt x="482" y="3220"/>
                    <a:pt x="0" y="3702"/>
                    <a:pt x="0" y="4298"/>
                  </a:cubicBezTo>
                  <a:lnTo>
                    <a:pt x="0" y="21652"/>
                  </a:lnTo>
                  <a:cubicBezTo>
                    <a:pt x="0" y="22249"/>
                    <a:pt x="482" y="22742"/>
                    <a:pt x="1079" y="22742"/>
                  </a:cubicBezTo>
                  <a:lnTo>
                    <a:pt x="13830" y="22742"/>
                  </a:lnTo>
                  <a:cubicBezTo>
                    <a:pt x="14427" y="22742"/>
                    <a:pt x="14909" y="22249"/>
                    <a:pt x="14909" y="21652"/>
                  </a:cubicBezTo>
                  <a:lnTo>
                    <a:pt x="14909" y="4298"/>
                  </a:lnTo>
                  <a:cubicBezTo>
                    <a:pt x="14909" y="3708"/>
                    <a:pt x="14438" y="3219"/>
                    <a:pt x="13851" y="3219"/>
                  </a:cubicBezTo>
                  <a:cubicBezTo>
                    <a:pt x="13844" y="3219"/>
                    <a:pt x="13837" y="3219"/>
                    <a:pt x="13830" y="3220"/>
                  </a:cubicBezTo>
                  <a:lnTo>
                    <a:pt x="9916" y="3220"/>
                  </a:lnTo>
                  <a:lnTo>
                    <a:pt x="7678" y="121"/>
                  </a:lnTo>
                  <a:cubicBezTo>
                    <a:pt x="7621" y="40"/>
                    <a:pt x="7535" y="0"/>
                    <a:pt x="7449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59F81AA2-A11D-46DA-A44D-6035F2E288E5}"/>
                </a:ext>
              </a:extLst>
            </p:cNvPr>
            <p:cNvSpPr txBox="1"/>
            <p:nvPr/>
          </p:nvSpPr>
          <p:spPr>
            <a:xfrm>
              <a:off x="2100887" y="638933"/>
              <a:ext cx="6012619" cy="25853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14400" marR="457200" algn="just">
                <a:spcBef>
                  <a:spcPts val="200"/>
                </a:spcBef>
                <a:spcAft>
                  <a:spcPts val="1800"/>
                </a:spcAft>
              </a:pPr>
              <a:r>
                <a:rPr lang="es-ES" sz="1800" b="0" kern="10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Franklin Gothic Book" panose="020B0503020102020204" pitchFamily="34" charset="0"/>
                  <a:cs typeface="Arial" panose="020B0604020202020204" pitchFamily="34" charset="0"/>
                </a:rPr>
                <a:t>La salud y seguridad en el trabajo reporta ventajas a las empresas,  además de constituir una obligación jurídica y social para ellas. Las  empresas  son  conscientes  de  que  el  SST  previene  las  lesiones  y  enfermedades profesionales de sus trabajadores, pero esta es además es una parte importante del éxito. </a:t>
              </a:r>
              <a:endParaRPr lang="es-CO" sz="1800" b="1" kern="1000" dirty="0">
                <a:solidFill>
                  <a:srgbClr val="17406D"/>
                </a:solidFill>
                <a:effectLst/>
                <a:latin typeface="Arial" panose="020B0604020202020204" pitchFamily="34" charset="0"/>
                <a:ea typeface="Franklin Gothic Book" panose="020B05030201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04A536E-6D1D-4AC7-B053-ABB3AF13AB25}"/>
              </a:ext>
            </a:extLst>
          </p:cNvPr>
          <p:cNvGrpSpPr/>
          <p:nvPr/>
        </p:nvGrpSpPr>
        <p:grpSpPr>
          <a:xfrm>
            <a:off x="7651628" y="215900"/>
            <a:ext cx="4147808" cy="6267142"/>
            <a:chOff x="7651628" y="215900"/>
            <a:chExt cx="4147808" cy="6267142"/>
          </a:xfrm>
        </p:grpSpPr>
        <p:sp>
          <p:nvSpPr>
            <p:cNvPr id="12" name="Google Shape;14302;p79">
              <a:extLst>
                <a:ext uri="{FF2B5EF4-FFF2-40B4-BE49-F238E27FC236}">
                  <a16:creationId xmlns:a16="http://schemas.microsoft.com/office/drawing/2014/main" id="{393FF27B-74CA-4B42-BB53-0F7C0F2821F4}"/>
                </a:ext>
              </a:extLst>
            </p:cNvPr>
            <p:cNvSpPr/>
            <p:nvPr/>
          </p:nvSpPr>
          <p:spPr>
            <a:xfrm rot="10800000">
              <a:off x="7651628" y="215900"/>
              <a:ext cx="3740272" cy="6267142"/>
            </a:xfrm>
            <a:custGeom>
              <a:avLst/>
              <a:gdLst/>
              <a:ahLst/>
              <a:cxnLst/>
              <a:rect l="l" t="t" r="r" b="b"/>
              <a:pathLst>
                <a:path w="14910" h="22743" extrusionOk="0">
                  <a:moveTo>
                    <a:pt x="7449" y="0"/>
                  </a:moveTo>
                  <a:cubicBezTo>
                    <a:pt x="7363" y="0"/>
                    <a:pt x="7277" y="40"/>
                    <a:pt x="7219" y="121"/>
                  </a:cubicBezTo>
                  <a:lnTo>
                    <a:pt x="4981" y="3220"/>
                  </a:lnTo>
                  <a:lnTo>
                    <a:pt x="1079" y="3220"/>
                  </a:lnTo>
                  <a:cubicBezTo>
                    <a:pt x="482" y="3220"/>
                    <a:pt x="0" y="3702"/>
                    <a:pt x="0" y="4298"/>
                  </a:cubicBezTo>
                  <a:lnTo>
                    <a:pt x="0" y="21652"/>
                  </a:lnTo>
                  <a:cubicBezTo>
                    <a:pt x="0" y="22249"/>
                    <a:pt x="482" y="22742"/>
                    <a:pt x="1079" y="22742"/>
                  </a:cubicBezTo>
                  <a:lnTo>
                    <a:pt x="13830" y="22742"/>
                  </a:lnTo>
                  <a:cubicBezTo>
                    <a:pt x="14427" y="22742"/>
                    <a:pt x="14909" y="22249"/>
                    <a:pt x="14909" y="21652"/>
                  </a:cubicBezTo>
                  <a:lnTo>
                    <a:pt x="14909" y="4298"/>
                  </a:lnTo>
                  <a:cubicBezTo>
                    <a:pt x="14909" y="3708"/>
                    <a:pt x="14438" y="3219"/>
                    <a:pt x="13851" y="3219"/>
                  </a:cubicBezTo>
                  <a:cubicBezTo>
                    <a:pt x="13844" y="3219"/>
                    <a:pt x="13837" y="3219"/>
                    <a:pt x="13830" y="3220"/>
                  </a:cubicBezTo>
                  <a:lnTo>
                    <a:pt x="9916" y="3220"/>
                  </a:lnTo>
                  <a:lnTo>
                    <a:pt x="7678" y="121"/>
                  </a:lnTo>
                  <a:cubicBezTo>
                    <a:pt x="7621" y="40"/>
                    <a:pt x="7535" y="0"/>
                    <a:pt x="7449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s-CO" sz="2400" dirty="0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B3FB7947-1432-4D71-B09B-BECD36170EF0}"/>
                </a:ext>
              </a:extLst>
            </p:cNvPr>
            <p:cNvSpPr txBox="1"/>
            <p:nvPr/>
          </p:nvSpPr>
          <p:spPr>
            <a:xfrm>
              <a:off x="7677028" y="374958"/>
              <a:ext cx="4122408" cy="50783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marR="457200" lvl="0" indent="-342900" algn="just">
                <a:spcBef>
                  <a:spcPts val="200"/>
                </a:spcBef>
                <a:buFont typeface="Symbol" panose="05050102010706020507" pitchFamily="18" charset="2"/>
                <a:buChar char=""/>
              </a:pPr>
              <a:r>
                <a:rPr lang="es-ES" sz="1800" b="0" kern="1000" dirty="0">
                  <a:solidFill>
                    <a:srgbClr val="000000"/>
                  </a:solidFill>
                  <a:effectLst/>
                  <a:latin typeface="Franklin Gothic Book" panose="020B0503020102020204" pitchFamily="34" charset="0"/>
                  <a:ea typeface="Franklin Gothic Book" panose="020B0503020102020204" pitchFamily="34" charset="0"/>
                  <a:cs typeface="Times New Roman" panose="02020603050405020304" pitchFamily="18" charset="0"/>
                </a:rPr>
                <a:t>Contribuye a demostrar la responsabilidad social de una empresa</a:t>
              </a:r>
              <a:endParaRPr lang="es-CO" sz="1800" b="1" kern="1000" dirty="0">
                <a:solidFill>
                  <a:srgbClr val="17406D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Times New Roman" panose="02020603050405020304" pitchFamily="18" charset="0"/>
              </a:endParaRPr>
            </a:p>
            <a:p>
              <a:pPr marL="342900" marR="457200" lvl="0" indent="-342900" algn="just">
                <a:buFont typeface="Symbol" panose="05050102010706020507" pitchFamily="18" charset="2"/>
                <a:buChar char=""/>
              </a:pPr>
              <a:r>
                <a:rPr lang="es-ES" sz="1800" b="0" kern="1000" dirty="0">
                  <a:solidFill>
                    <a:srgbClr val="000000"/>
                  </a:solidFill>
                  <a:effectLst/>
                  <a:latin typeface="Franklin Gothic Book" panose="020B0503020102020204" pitchFamily="34" charset="0"/>
                  <a:ea typeface="Franklin Gothic Book" panose="020B0503020102020204" pitchFamily="34" charset="0"/>
                  <a:cs typeface="Times New Roman" panose="02020603050405020304" pitchFamily="18" charset="0"/>
                </a:rPr>
                <a:t>Protege y mejora la imagen y el valor de la marca</a:t>
              </a:r>
            </a:p>
            <a:p>
              <a:pPr marL="342900" marR="457200" lvl="0" indent="-342900" algn="just">
                <a:buFont typeface="Symbol" panose="05050102010706020507" pitchFamily="18" charset="2"/>
                <a:buChar char=""/>
              </a:pPr>
              <a:r>
                <a:rPr lang="es-ES" sz="1800" b="0" kern="1000" dirty="0">
                  <a:solidFill>
                    <a:srgbClr val="000000"/>
                  </a:solidFill>
                  <a:effectLst/>
                  <a:latin typeface="Franklin Gothic Book" panose="020B0503020102020204" pitchFamily="34" charset="0"/>
                  <a:ea typeface="Franklin Gothic Book" panose="020B0503020102020204" pitchFamily="34" charset="0"/>
                  <a:cs typeface="Times New Roman" panose="02020603050405020304" pitchFamily="18" charset="0"/>
                </a:rPr>
                <a:t>Mejora el compromiso de los trabajadores con la empresa</a:t>
              </a:r>
              <a:endParaRPr lang="es-CO" sz="1800" b="1" kern="1000" dirty="0">
                <a:solidFill>
                  <a:srgbClr val="17406D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Times New Roman" panose="02020603050405020304" pitchFamily="18" charset="0"/>
              </a:endParaRPr>
            </a:p>
            <a:p>
              <a:pPr marL="342900" marR="457200" lvl="0" indent="-342900" algn="just">
                <a:buFont typeface="Symbol" panose="05050102010706020507" pitchFamily="18" charset="2"/>
                <a:buChar char=""/>
              </a:pPr>
              <a:r>
                <a:rPr lang="es-ES" sz="1800" b="0" kern="1000" dirty="0">
                  <a:solidFill>
                    <a:srgbClr val="000000"/>
                  </a:solidFill>
                  <a:effectLst/>
                  <a:latin typeface="Franklin Gothic Book" panose="020B0503020102020204" pitchFamily="34" charset="0"/>
                  <a:ea typeface="Franklin Gothic Book" panose="020B0503020102020204" pitchFamily="34" charset="0"/>
                  <a:cs typeface="Times New Roman" panose="02020603050405020304" pitchFamily="18" charset="0"/>
                </a:rPr>
                <a:t>Permite conseguir una mano de obra más competente y saludable</a:t>
              </a:r>
              <a:endParaRPr lang="es-CO" sz="1800" b="1" kern="1000" dirty="0">
                <a:solidFill>
                  <a:srgbClr val="17406D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Times New Roman" panose="02020603050405020304" pitchFamily="18" charset="0"/>
              </a:endParaRPr>
            </a:p>
            <a:p>
              <a:pPr marL="342900" marR="457200" lvl="0" indent="-342900" algn="just">
                <a:buFont typeface="Symbol" panose="05050102010706020507" pitchFamily="18" charset="2"/>
                <a:buChar char=""/>
              </a:pPr>
              <a:r>
                <a:rPr lang="es-ES" sz="1800" b="0" kern="1000" dirty="0">
                  <a:solidFill>
                    <a:srgbClr val="000000"/>
                  </a:solidFill>
                  <a:effectLst/>
                  <a:latin typeface="Franklin Gothic Book" panose="020B0503020102020204" pitchFamily="34" charset="0"/>
                  <a:ea typeface="Franklin Gothic Book" panose="020B0503020102020204" pitchFamily="34" charset="0"/>
                  <a:cs typeface="Times New Roman" panose="02020603050405020304" pitchFamily="18" charset="0"/>
                </a:rPr>
                <a:t>Reduce los costes y las interrupciones de la actividad</a:t>
              </a:r>
              <a:endParaRPr lang="es-CO" sz="1800" b="1" kern="1000" dirty="0">
                <a:solidFill>
                  <a:srgbClr val="17406D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Times New Roman" panose="02020603050405020304" pitchFamily="18" charset="0"/>
              </a:endParaRPr>
            </a:p>
            <a:p>
              <a:pPr marL="342900" marR="457200" lvl="0" indent="-342900" algn="just">
                <a:buFont typeface="Symbol" panose="05050102010706020507" pitchFamily="18" charset="2"/>
                <a:buChar char=""/>
              </a:pPr>
              <a:r>
                <a:rPr lang="es-ES" sz="1800" b="0" kern="1000" dirty="0">
                  <a:solidFill>
                    <a:srgbClr val="000000"/>
                  </a:solidFill>
                  <a:effectLst/>
                  <a:latin typeface="Franklin Gothic Book" panose="020B0503020102020204" pitchFamily="34" charset="0"/>
                  <a:ea typeface="Franklin Gothic Book" panose="020B0503020102020204" pitchFamily="34" charset="0"/>
                  <a:cs typeface="Times New Roman" panose="02020603050405020304" pitchFamily="18" charset="0"/>
                </a:rPr>
                <a:t>Permite a las empresas satisfacer las expectativas de SST de sus clientes</a:t>
              </a:r>
              <a:endParaRPr lang="es-CO" sz="1800" b="1" kern="1000" dirty="0">
                <a:solidFill>
                  <a:srgbClr val="17406D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Times New Roman" panose="02020603050405020304" pitchFamily="18" charset="0"/>
              </a:endParaRPr>
            </a:p>
            <a:p>
              <a:pPr marL="342900" marR="457200" lvl="0" indent="-342900" algn="just">
                <a:spcAft>
                  <a:spcPts val="1800"/>
                </a:spcAft>
                <a:buFont typeface="Symbol" panose="05050102010706020507" pitchFamily="18" charset="2"/>
                <a:buChar char=""/>
              </a:pPr>
              <a:r>
                <a:rPr lang="es-ES" sz="1800" b="0" kern="1000" dirty="0">
                  <a:solidFill>
                    <a:srgbClr val="000000"/>
                  </a:solidFill>
                  <a:effectLst/>
                  <a:latin typeface="Franklin Gothic Book" panose="020B0503020102020204" pitchFamily="34" charset="0"/>
                  <a:ea typeface="Franklin Gothic Book" panose="020B0503020102020204" pitchFamily="34" charset="0"/>
                  <a:cs typeface="Times New Roman" panose="02020603050405020304" pitchFamily="18" charset="0"/>
                </a:rPr>
                <a:t>Supone un incentivo para que los trabajadores permanezcan más  tiempo activos.</a:t>
              </a:r>
              <a:endParaRPr lang="es-CO" sz="1800" b="1" kern="1000" dirty="0">
                <a:solidFill>
                  <a:srgbClr val="17406D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4665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7" y="5725695"/>
            <a:ext cx="5684360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Definición del problema</a:t>
              </a:r>
              <a:r>
                <a:rPr lang="es-ES" sz="2400" dirty="0"/>
                <a:t> </a:t>
              </a:r>
              <a:endParaRPr sz="2400" dirty="0"/>
            </a:p>
          </p:txBody>
        </p:sp>
      </p:grpSp>
      <p:pic>
        <p:nvPicPr>
          <p:cNvPr id="3" name="Imagen 2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D8739637-52C0-4D67-92D7-BEE358AE2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35" name="Google Shape;123;p16">
            <a:extLst>
              <a:ext uri="{FF2B5EF4-FFF2-40B4-BE49-F238E27FC236}">
                <a16:creationId xmlns:a16="http://schemas.microsoft.com/office/drawing/2014/main" id="{7BC3F257-6700-4C58-B661-7FA6C43012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" name="Google Shape;15818;p83">
            <a:extLst>
              <a:ext uri="{FF2B5EF4-FFF2-40B4-BE49-F238E27FC236}">
                <a16:creationId xmlns:a16="http://schemas.microsoft.com/office/drawing/2014/main" id="{A7F3776A-62C6-4390-A069-8A7A2ADD0EC9}"/>
              </a:ext>
            </a:extLst>
          </p:cNvPr>
          <p:cNvGrpSpPr/>
          <p:nvPr/>
        </p:nvGrpSpPr>
        <p:grpSpPr>
          <a:xfrm>
            <a:off x="4401052" y="374958"/>
            <a:ext cx="5288058" cy="5205750"/>
            <a:chOff x="1049375" y="2318350"/>
            <a:chExt cx="298525" cy="295400"/>
          </a:xfrm>
          <a:solidFill>
            <a:schemeClr val="bg1">
              <a:lumMod val="75000"/>
              <a:alpha val="30000"/>
            </a:schemeClr>
          </a:solidFill>
        </p:grpSpPr>
        <p:sp>
          <p:nvSpPr>
            <p:cNvPr id="40" name="Google Shape;15822;p83">
              <a:extLst>
                <a:ext uri="{FF2B5EF4-FFF2-40B4-BE49-F238E27FC236}">
                  <a16:creationId xmlns:a16="http://schemas.microsoft.com/office/drawing/2014/main" id="{75CD2033-AB8B-44DE-BF09-EDAE634081DD}"/>
                </a:ext>
              </a:extLst>
            </p:cNvPr>
            <p:cNvSpPr/>
            <p:nvPr/>
          </p:nvSpPr>
          <p:spPr>
            <a:xfrm>
              <a:off x="1049375" y="2318350"/>
              <a:ext cx="298525" cy="295400"/>
            </a:xfrm>
            <a:custGeom>
              <a:avLst/>
              <a:gdLst/>
              <a:ahLst/>
              <a:cxnLst/>
              <a:rect l="l" t="t" r="r" b="b"/>
              <a:pathLst>
                <a:path w="11941" h="11816" extrusionOk="0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" name="Google Shape;15819;p83">
              <a:extLst>
                <a:ext uri="{FF2B5EF4-FFF2-40B4-BE49-F238E27FC236}">
                  <a16:creationId xmlns:a16="http://schemas.microsoft.com/office/drawing/2014/main" id="{3C62B177-6524-4745-9D5F-1572EED07BE9}"/>
                </a:ext>
              </a:extLst>
            </p:cNvPr>
            <p:cNvSpPr/>
            <p:nvPr/>
          </p:nvSpPr>
          <p:spPr>
            <a:xfrm>
              <a:off x="1101350" y="2492325"/>
              <a:ext cx="70125" cy="50525"/>
            </a:xfrm>
            <a:custGeom>
              <a:avLst/>
              <a:gdLst/>
              <a:ahLst/>
              <a:cxnLst/>
              <a:rect l="l" t="t" r="r" b="b"/>
              <a:pathLst>
                <a:path w="2805" h="2021" extrusionOk="0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" name="Google Shape;15820;p83">
              <a:extLst>
                <a:ext uri="{FF2B5EF4-FFF2-40B4-BE49-F238E27FC236}">
                  <a16:creationId xmlns:a16="http://schemas.microsoft.com/office/drawing/2014/main" id="{71737F02-2778-4003-9843-0A58A03D3FFA}"/>
                </a:ext>
              </a:extLst>
            </p:cNvPr>
            <p:cNvSpPr/>
            <p:nvPr/>
          </p:nvSpPr>
          <p:spPr>
            <a:xfrm>
              <a:off x="1101350" y="2440525"/>
              <a:ext cx="70125" cy="51150"/>
            </a:xfrm>
            <a:custGeom>
              <a:avLst/>
              <a:gdLst/>
              <a:ahLst/>
              <a:cxnLst/>
              <a:rect l="l" t="t" r="r" b="b"/>
              <a:pathLst>
                <a:path w="2805" h="2046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" name="Google Shape;15821;p83">
              <a:extLst>
                <a:ext uri="{FF2B5EF4-FFF2-40B4-BE49-F238E27FC236}">
                  <a16:creationId xmlns:a16="http://schemas.microsoft.com/office/drawing/2014/main" id="{FC3107A9-334D-4B72-B842-A319BC360AF4}"/>
                </a:ext>
              </a:extLst>
            </p:cNvPr>
            <p:cNvSpPr/>
            <p:nvPr/>
          </p:nvSpPr>
          <p:spPr>
            <a:xfrm>
              <a:off x="1101350" y="2388550"/>
              <a:ext cx="70125" cy="51125"/>
            </a:xfrm>
            <a:custGeom>
              <a:avLst/>
              <a:gdLst/>
              <a:ahLst/>
              <a:cxnLst/>
              <a:rect l="l" t="t" r="r" b="b"/>
              <a:pathLst>
                <a:path w="2805" h="2045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0" name="Google Shape;122;p16">
            <a:extLst>
              <a:ext uri="{FF2B5EF4-FFF2-40B4-BE49-F238E27FC236}">
                <a16:creationId xmlns:a16="http://schemas.microsoft.com/office/drawing/2014/main" id="{21869997-5482-454A-A531-42D7D6343467}"/>
              </a:ext>
            </a:extLst>
          </p:cNvPr>
          <p:cNvSpPr txBox="1"/>
          <p:nvPr/>
        </p:nvSpPr>
        <p:spPr>
          <a:xfrm>
            <a:off x="2108817" y="1884027"/>
            <a:ext cx="8569310" cy="261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</a:rPr>
              <a:t>Para dar un buen cumplimiento a la legislación vigente, en la ley 1562 de 2012 y el decreto 1072 de 2015, ha diseñado el Sistema de Gestión de la Seguridad y Salud en el trabajo (SG-SST), con el propósito de establecer los mecanismos de evaluación, control e intervención de los riesgos a los cuales están expuestos sus colaboradores.</a:t>
            </a:r>
            <a:endParaRPr sz="2400" dirty="0">
              <a:solidFill>
                <a:schemeClr val="dk1"/>
              </a:solidFill>
              <a:latin typeface="Calibri"/>
              <a:cs typeface="Calibri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773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7" y="5725695"/>
            <a:ext cx="4987674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Propuesta de solución</a:t>
              </a:r>
              <a:r>
                <a:rPr lang="es-ES" sz="2400" dirty="0"/>
                <a:t> </a:t>
              </a:r>
              <a:endParaRPr sz="2400" dirty="0"/>
            </a:p>
          </p:txBody>
        </p:sp>
      </p:grpSp>
      <p:pic>
        <p:nvPicPr>
          <p:cNvPr id="11" name="Imagen 10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5D93EDD1-AA09-4F4E-9468-9D07250CA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2" name="Google Shape;123;p16">
            <a:extLst>
              <a:ext uri="{FF2B5EF4-FFF2-40B4-BE49-F238E27FC236}">
                <a16:creationId xmlns:a16="http://schemas.microsoft.com/office/drawing/2014/main" id="{49740FFB-7523-4319-A7DF-3AE91CD0178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5375;p82">
            <a:extLst>
              <a:ext uri="{FF2B5EF4-FFF2-40B4-BE49-F238E27FC236}">
                <a16:creationId xmlns:a16="http://schemas.microsoft.com/office/drawing/2014/main" id="{F0001F36-436F-4EF2-AEC4-E19B294B605F}"/>
              </a:ext>
            </a:extLst>
          </p:cNvPr>
          <p:cNvSpPr/>
          <p:nvPr/>
        </p:nvSpPr>
        <p:spPr>
          <a:xfrm>
            <a:off x="3594031" y="232648"/>
            <a:ext cx="5491560" cy="5446704"/>
          </a:xfrm>
          <a:custGeom>
            <a:avLst/>
            <a:gdLst/>
            <a:ahLst/>
            <a:cxnLst/>
            <a:rect l="l" t="t" r="r" b="b"/>
            <a:pathLst>
              <a:path w="12855" h="12750" extrusionOk="0">
                <a:moveTo>
                  <a:pt x="6304" y="770"/>
                </a:moveTo>
                <a:cubicBezTo>
                  <a:pt x="6519" y="770"/>
                  <a:pt x="6711" y="952"/>
                  <a:pt x="6711" y="1186"/>
                </a:cubicBezTo>
                <a:lnTo>
                  <a:pt x="6711" y="1659"/>
                </a:lnTo>
                <a:cubicBezTo>
                  <a:pt x="6569" y="1643"/>
                  <a:pt x="6435" y="1635"/>
                  <a:pt x="6302" y="1635"/>
                </a:cubicBezTo>
                <a:cubicBezTo>
                  <a:pt x="6168" y="1635"/>
                  <a:pt x="6034" y="1643"/>
                  <a:pt x="5892" y="1659"/>
                </a:cubicBezTo>
                <a:lnTo>
                  <a:pt x="5892" y="1186"/>
                </a:lnTo>
                <a:cubicBezTo>
                  <a:pt x="5892" y="1029"/>
                  <a:pt x="5955" y="934"/>
                  <a:pt x="6081" y="840"/>
                </a:cubicBezTo>
                <a:cubicBezTo>
                  <a:pt x="6154" y="791"/>
                  <a:pt x="6230" y="770"/>
                  <a:pt x="6304" y="770"/>
                </a:cubicBezTo>
                <a:close/>
                <a:moveTo>
                  <a:pt x="6249" y="2423"/>
                </a:moveTo>
                <a:cubicBezTo>
                  <a:pt x="7067" y="2423"/>
                  <a:pt x="7748" y="3312"/>
                  <a:pt x="7373" y="4148"/>
                </a:cubicBezTo>
                <a:cubicBezTo>
                  <a:pt x="7184" y="4619"/>
                  <a:pt x="6731" y="4914"/>
                  <a:pt x="6251" y="4914"/>
                </a:cubicBezTo>
                <a:cubicBezTo>
                  <a:pt x="6089" y="4914"/>
                  <a:pt x="5925" y="4881"/>
                  <a:pt x="5766" y="4809"/>
                </a:cubicBezTo>
                <a:cubicBezTo>
                  <a:pt x="5136" y="4557"/>
                  <a:pt x="4852" y="3707"/>
                  <a:pt x="5230" y="3045"/>
                </a:cubicBezTo>
                <a:cubicBezTo>
                  <a:pt x="5325" y="2856"/>
                  <a:pt x="5482" y="2699"/>
                  <a:pt x="5640" y="2604"/>
                </a:cubicBezTo>
                <a:cubicBezTo>
                  <a:pt x="5766" y="2541"/>
                  <a:pt x="5892" y="2510"/>
                  <a:pt x="6018" y="2447"/>
                </a:cubicBezTo>
                <a:cubicBezTo>
                  <a:pt x="6096" y="2431"/>
                  <a:pt x="6173" y="2423"/>
                  <a:pt x="6249" y="2423"/>
                </a:cubicBezTo>
                <a:close/>
                <a:moveTo>
                  <a:pt x="4852" y="5156"/>
                </a:moveTo>
                <a:cubicBezTo>
                  <a:pt x="5041" y="5377"/>
                  <a:pt x="5293" y="5534"/>
                  <a:pt x="5577" y="5597"/>
                </a:cubicBezTo>
                <a:lnTo>
                  <a:pt x="3939" y="8243"/>
                </a:lnTo>
                <a:lnTo>
                  <a:pt x="2962" y="8243"/>
                </a:lnTo>
                <a:lnTo>
                  <a:pt x="4852" y="5156"/>
                </a:lnTo>
                <a:close/>
                <a:moveTo>
                  <a:pt x="7719" y="5187"/>
                </a:moveTo>
                <a:lnTo>
                  <a:pt x="9610" y="8243"/>
                </a:lnTo>
                <a:lnTo>
                  <a:pt x="8633" y="8243"/>
                </a:lnTo>
                <a:lnTo>
                  <a:pt x="7026" y="5597"/>
                </a:lnTo>
                <a:cubicBezTo>
                  <a:pt x="7310" y="5503"/>
                  <a:pt x="7530" y="5377"/>
                  <a:pt x="7719" y="5187"/>
                </a:cubicBezTo>
                <a:close/>
                <a:moveTo>
                  <a:pt x="6333" y="6007"/>
                </a:moveTo>
                <a:lnTo>
                  <a:pt x="7688" y="8275"/>
                </a:lnTo>
                <a:lnTo>
                  <a:pt x="7467" y="8275"/>
                </a:lnTo>
                <a:lnTo>
                  <a:pt x="7467" y="8243"/>
                </a:lnTo>
                <a:cubicBezTo>
                  <a:pt x="7373" y="7960"/>
                  <a:pt x="7215" y="7771"/>
                  <a:pt x="6995" y="7613"/>
                </a:cubicBezTo>
                <a:cubicBezTo>
                  <a:pt x="6783" y="7462"/>
                  <a:pt x="6545" y="7391"/>
                  <a:pt x="6310" y="7391"/>
                </a:cubicBezTo>
                <a:cubicBezTo>
                  <a:pt x="5812" y="7391"/>
                  <a:pt x="5329" y="7708"/>
                  <a:pt x="5136" y="8243"/>
                </a:cubicBezTo>
                <a:lnTo>
                  <a:pt x="4947" y="8243"/>
                </a:lnTo>
                <a:lnTo>
                  <a:pt x="6333" y="6007"/>
                </a:lnTo>
                <a:close/>
                <a:moveTo>
                  <a:pt x="6274" y="8212"/>
                </a:moveTo>
                <a:cubicBezTo>
                  <a:pt x="6325" y="8212"/>
                  <a:pt x="6377" y="8222"/>
                  <a:pt x="6428" y="8243"/>
                </a:cubicBezTo>
                <a:cubicBezTo>
                  <a:pt x="6585" y="8306"/>
                  <a:pt x="6680" y="8495"/>
                  <a:pt x="6680" y="8653"/>
                </a:cubicBezTo>
                <a:cubicBezTo>
                  <a:pt x="6704" y="8901"/>
                  <a:pt x="6515" y="9071"/>
                  <a:pt x="6295" y="9071"/>
                </a:cubicBezTo>
                <a:cubicBezTo>
                  <a:pt x="6235" y="9071"/>
                  <a:pt x="6173" y="9058"/>
                  <a:pt x="6113" y="9031"/>
                </a:cubicBezTo>
                <a:cubicBezTo>
                  <a:pt x="5924" y="8968"/>
                  <a:pt x="5798" y="8716"/>
                  <a:pt x="5892" y="8495"/>
                </a:cubicBezTo>
                <a:cubicBezTo>
                  <a:pt x="5941" y="8326"/>
                  <a:pt x="6101" y="8212"/>
                  <a:pt x="6274" y="8212"/>
                </a:cubicBezTo>
                <a:close/>
                <a:moveTo>
                  <a:pt x="3435" y="9063"/>
                </a:moveTo>
                <a:lnTo>
                  <a:pt x="1891" y="11583"/>
                </a:lnTo>
                <a:cubicBezTo>
                  <a:pt x="1576" y="11205"/>
                  <a:pt x="1513" y="10606"/>
                  <a:pt x="1796" y="10165"/>
                </a:cubicBezTo>
                <a:lnTo>
                  <a:pt x="2458" y="9063"/>
                </a:lnTo>
                <a:close/>
                <a:moveTo>
                  <a:pt x="10145" y="9063"/>
                </a:moveTo>
                <a:lnTo>
                  <a:pt x="10807" y="10165"/>
                </a:lnTo>
                <a:cubicBezTo>
                  <a:pt x="11027" y="10606"/>
                  <a:pt x="10996" y="11205"/>
                  <a:pt x="10681" y="11583"/>
                </a:cubicBezTo>
                <a:lnTo>
                  <a:pt x="9169" y="9063"/>
                </a:lnTo>
                <a:close/>
                <a:moveTo>
                  <a:pt x="6256" y="1"/>
                </a:moveTo>
                <a:cubicBezTo>
                  <a:pt x="5728" y="1"/>
                  <a:pt x="5259" y="331"/>
                  <a:pt x="5104" y="871"/>
                </a:cubicBezTo>
                <a:cubicBezTo>
                  <a:pt x="5041" y="997"/>
                  <a:pt x="5041" y="1123"/>
                  <a:pt x="5041" y="1218"/>
                </a:cubicBezTo>
                <a:lnTo>
                  <a:pt x="5041" y="2069"/>
                </a:lnTo>
                <a:cubicBezTo>
                  <a:pt x="4317" y="2604"/>
                  <a:pt x="4033" y="3581"/>
                  <a:pt x="4348" y="4431"/>
                </a:cubicBezTo>
                <a:cubicBezTo>
                  <a:pt x="4002" y="4998"/>
                  <a:pt x="2836" y="6920"/>
                  <a:pt x="1985" y="8275"/>
                </a:cubicBezTo>
                <a:lnTo>
                  <a:pt x="473" y="8275"/>
                </a:lnTo>
                <a:cubicBezTo>
                  <a:pt x="284" y="8275"/>
                  <a:pt x="95" y="8432"/>
                  <a:pt x="64" y="8653"/>
                </a:cubicBezTo>
                <a:cubicBezTo>
                  <a:pt x="1" y="8874"/>
                  <a:pt x="221" y="9094"/>
                  <a:pt x="442" y="9094"/>
                </a:cubicBezTo>
                <a:lnTo>
                  <a:pt x="1418" y="9094"/>
                </a:lnTo>
                <a:lnTo>
                  <a:pt x="1009" y="9787"/>
                </a:lnTo>
                <a:cubicBezTo>
                  <a:pt x="599" y="10417"/>
                  <a:pt x="599" y="11236"/>
                  <a:pt x="946" y="11866"/>
                </a:cubicBezTo>
                <a:cubicBezTo>
                  <a:pt x="1103" y="12182"/>
                  <a:pt x="1387" y="12465"/>
                  <a:pt x="1702" y="12654"/>
                </a:cubicBezTo>
                <a:cubicBezTo>
                  <a:pt x="1761" y="12694"/>
                  <a:pt x="1827" y="12711"/>
                  <a:pt x="1893" y="12711"/>
                </a:cubicBezTo>
                <a:cubicBezTo>
                  <a:pt x="2037" y="12711"/>
                  <a:pt x="2182" y="12626"/>
                  <a:pt x="2269" y="12497"/>
                </a:cubicBezTo>
                <a:lnTo>
                  <a:pt x="4348" y="9094"/>
                </a:lnTo>
                <a:lnTo>
                  <a:pt x="5041" y="9094"/>
                </a:lnTo>
                <a:cubicBezTo>
                  <a:pt x="5167" y="9504"/>
                  <a:pt x="5482" y="9787"/>
                  <a:pt x="5829" y="9882"/>
                </a:cubicBezTo>
                <a:cubicBezTo>
                  <a:pt x="5961" y="9928"/>
                  <a:pt x="6096" y="9950"/>
                  <a:pt x="6227" y="9950"/>
                </a:cubicBezTo>
                <a:cubicBezTo>
                  <a:pt x="6628" y="9950"/>
                  <a:pt x="7002" y="9749"/>
                  <a:pt x="7215" y="9441"/>
                </a:cubicBezTo>
                <a:cubicBezTo>
                  <a:pt x="7310" y="9346"/>
                  <a:pt x="7373" y="9189"/>
                  <a:pt x="7373" y="9189"/>
                </a:cubicBezTo>
                <a:lnTo>
                  <a:pt x="8097" y="9189"/>
                </a:lnTo>
                <a:lnTo>
                  <a:pt x="10145" y="12528"/>
                </a:lnTo>
                <a:cubicBezTo>
                  <a:pt x="10207" y="12673"/>
                  <a:pt x="10337" y="12750"/>
                  <a:pt x="10473" y="12750"/>
                </a:cubicBezTo>
                <a:cubicBezTo>
                  <a:pt x="10544" y="12750"/>
                  <a:pt x="10616" y="12729"/>
                  <a:pt x="10681" y="12686"/>
                </a:cubicBezTo>
                <a:cubicBezTo>
                  <a:pt x="11657" y="12119"/>
                  <a:pt x="11972" y="10795"/>
                  <a:pt x="11405" y="9850"/>
                </a:cubicBezTo>
                <a:lnTo>
                  <a:pt x="10996" y="9189"/>
                </a:lnTo>
                <a:lnTo>
                  <a:pt x="12288" y="9189"/>
                </a:lnTo>
                <a:cubicBezTo>
                  <a:pt x="12508" y="9189"/>
                  <a:pt x="12697" y="9031"/>
                  <a:pt x="12729" y="8842"/>
                </a:cubicBezTo>
                <a:cubicBezTo>
                  <a:pt x="12855" y="8432"/>
                  <a:pt x="12666" y="8243"/>
                  <a:pt x="12382" y="8243"/>
                </a:cubicBezTo>
                <a:lnTo>
                  <a:pt x="10555" y="8243"/>
                </a:lnTo>
                <a:lnTo>
                  <a:pt x="8192" y="4368"/>
                </a:lnTo>
                <a:cubicBezTo>
                  <a:pt x="8507" y="3549"/>
                  <a:pt x="8255" y="2573"/>
                  <a:pt x="7499" y="2005"/>
                </a:cubicBezTo>
                <a:lnTo>
                  <a:pt x="7499" y="1218"/>
                </a:lnTo>
                <a:cubicBezTo>
                  <a:pt x="7499" y="682"/>
                  <a:pt x="7152" y="210"/>
                  <a:pt x="6617" y="52"/>
                </a:cubicBezTo>
                <a:cubicBezTo>
                  <a:pt x="6495" y="18"/>
                  <a:pt x="6374" y="1"/>
                  <a:pt x="6256" y="1"/>
                </a:cubicBezTo>
                <a:close/>
              </a:path>
            </a:pathLst>
          </a:custGeom>
          <a:solidFill>
            <a:schemeClr val="bg1">
              <a:lumMod val="75000"/>
              <a:alpha val="3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3" name="Google Shape;122;p16">
            <a:extLst>
              <a:ext uri="{FF2B5EF4-FFF2-40B4-BE49-F238E27FC236}">
                <a16:creationId xmlns:a16="http://schemas.microsoft.com/office/drawing/2014/main" id="{6DA9FF50-83E7-4B74-96A8-0F80F090451B}"/>
              </a:ext>
            </a:extLst>
          </p:cNvPr>
          <p:cNvSpPr txBox="1"/>
          <p:nvPr/>
        </p:nvSpPr>
        <p:spPr>
          <a:xfrm>
            <a:off x="2231503" y="1509847"/>
            <a:ext cx="8569310" cy="261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</a:rPr>
              <a:t>Se propone el desarrollo de un aplicativo móvil y web capaz de realizar el reporte de incidentes, accidentes, riesgos o amenazas a los que se enfrentan los colaboradores de la empresa.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s-ES" sz="2400" dirty="0">
              <a:solidFill>
                <a:schemeClr val="dk1"/>
              </a:solidFill>
              <a:latin typeface="Calibri"/>
              <a:cs typeface="Calibri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Adicionalmente, se propone el desarrollo de un tablero de control (DASHBOARD) capaz de priorizar los casos de mayor importancia mejorando la toma de decisiones. Además, será capaz de generar informes unitarios y globales para la auditoria de calidad. </a:t>
            </a:r>
          </a:p>
        </p:txBody>
      </p:sp>
    </p:spTree>
    <p:extLst>
      <p:ext uri="{BB962C8B-B14F-4D97-AF65-F5344CB8AC3E}">
        <p14:creationId xmlns:p14="http://schemas.microsoft.com/office/powerpoint/2010/main" val="426833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7" y="5725695"/>
            <a:ext cx="3797503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Justificación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20239FA5-8C50-446F-8C9E-97F39B265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56CC88E1-E091-45BC-841F-8B254EE4061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2;p16">
            <a:extLst>
              <a:ext uri="{FF2B5EF4-FFF2-40B4-BE49-F238E27FC236}">
                <a16:creationId xmlns:a16="http://schemas.microsoft.com/office/drawing/2014/main" id="{FFD61693-9641-4985-94F6-4362A2DFBEF4}"/>
              </a:ext>
            </a:extLst>
          </p:cNvPr>
          <p:cNvSpPr txBox="1"/>
          <p:nvPr/>
        </p:nvSpPr>
        <p:spPr>
          <a:xfrm>
            <a:off x="2196025" y="2278150"/>
            <a:ext cx="8569310" cy="261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</a:rPr>
              <a:t>Con la propuesta presentada, se pretende ayudar, administrar y documentar el sistema de seguridad y salud en el trabajo de una forma ágil y apegándose a cumplir con la legislación vigente. Se espera mitigar los riesgos de los colaboradores en un entorno laboral dando una gestión oportuna.</a:t>
            </a:r>
            <a:endParaRPr sz="2400" dirty="0">
              <a:solidFill>
                <a:schemeClr val="dk1"/>
              </a:solidFill>
              <a:latin typeface="Calibri"/>
              <a:cs typeface="Calibri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0925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7" y="5725695"/>
            <a:ext cx="4095030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Objetivo General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345EBD21-1392-41FB-88CF-8413A5E9F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32BE3532-0689-4D97-AB3E-8EF693DF66E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2;p16">
            <a:extLst>
              <a:ext uri="{FF2B5EF4-FFF2-40B4-BE49-F238E27FC236}">
                <a16:creationId xmlns:a16="http://schemas.microsoft.com/office/drawing/2014/main" id="{50E7F82C-858C-49C3-80DF-156EA409547C}"/>
              </a:ext>
            </a:extLst>
          </p:cNvPr>
          <p:cNvSpPr txBox="1"/>
          <p:nvPr/>
        </p:nvSpPr>
        <p:spPr>
          <a:xfrm>
            <a:off x="2196025" y="2278150"/>
            <a:ext cx="8569310" cy="261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</a:rPr>
              <a:t>Se espera lograr el desarrollo de una herramienta multi-plaforma que permita dar una gestión efectiva a los reportes de riesgo que se puedan presentar, dando cumplimiento a la ley 1072 de 2015 para el SG-SST.</a:t>
            </a:r>
            <a:endParaRPr sz="2400" dirty="0">
              <a:solidFill>
                <a:schemeClr val="dk1"/>
              </a:solidFill>
              <a:latin typeface="Calibri"/>
              <a:cs typeface="Calibri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2632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7" y="5725695"/>
            <a:ext cx="4755446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Objetivos Específicos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8E9FCFBC-4A95-46C3-8760-66810E7C4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3BE43BCE-59EA-4516-B732-0E1926849E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2;p16">
            <a:extLst>
              <a:ext uri="{FF2B5EF4-FFF2-40B4-BE49-F238E27FC236}">
                <a16:creationId xmlns:a16="http://schemas.microsoft.com/office/drawing/2014/main" id="{31FA9644-ADDE-45B6-8F2B-A25A34586116}"/>
              </a:ext>
            </a:extLst>
          </p:cNvPr>
          <p:cNvSpPr txBox="1"/>
          <p:nvPr/>
        </p:nvSpPr>
        <p:spPr>
          <a:xfrm>
            <a:off x="2166514" y="1427184"/>
            <a:ext cx="8737986" cy="155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O.E.1: Realizar y documentar la educción de los requerimientos.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O.E.2: Diseñar un sistema para la gestión del área de seguridad y salud en el trabajo.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E3A84DD-83B4-400F-912E-92CAEFF5E0C7}"/>
              </a:ext>
            </a:extLst>
          </p:cNvPr>
          <p:cNvSpPr txBox="1"/>
          <p:nvPr/>
        </p:nvSpPr>
        <p:spPr>
          <a:xfrm>
            <a:off x="2173963" y="2721427"/>
            <a:ext cx="9373121" cy="2615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O.E.3: Desarrollar una herramienta que permita:</a:t>
            </a:r>
          </a:p>
          <a:p>
            <a:pPr marL="914400" lvl="1" indent="-457200" algn="just">
              <a:lnSpc>
                <a:spcPct val="115000"/>
              </a:lnSpc>
              <a:buClr>
                <a:srgbClr val="000000"/>
              </a:buClr>
              <a:buSzPts val="2400"/>
              <a:buFont typeface="Courier New" panose="02070309020205020404" pitchFamily="49" charset="0"/>
              <a:buChar char="o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O.E.3.1: Reportar incidentes, accidentes, riesgos o amenazas</a:t>
            </a:r>
          </a:p>
          <a:p>
            <a:pPr marL="914400" lvl="1" indent="-457200" algn="just">
              <a:lnSpc>
                <a:spcPct val="115000"/>
              </a:lnSpc>
              <a:buClr>
                <a:srgbClr val="000000"/>
              </a:buClr>
              <a:buSzPts val="2400"/>
              <a:buFont typeface="Courier New" panose="02070309020205020404" pitchFamily="49" charset="0"/>
              <a:buChar char="o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O.E.3.2: Analizar los datos para una toma de decisión ágil y efectiva</a:t>
            </a:r>
          </a:p>
          <a:p>
            <a:pPr marL="914400" lvl="1" indent="-457200" algn="just">
              <a:lnSpc>
                <a:spcPct val="115000"/>
              </a:lnSpc>
              <a:buClr>
                <a:srgbClr val="000000"/>
              </a:buClr>
              <a:buSzPts val="2400"/>
              <a:buFont typeface="Courier New" panose="02070309020205020404" pitchFamily="49" charset="0"/>
              <a:buChar char="o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O.E.3.3: Visualizar informes para la auditoria de calidad</a:t>
            </a:r>
          </a:p>
          <a:p>
            <a:pPr marL="914400" lvl="1" indent="-457200" algn="just">
              <a:lnSpc>
                <a:spcPct val="115000"/>
              </a:lnSpc>
              <a:buClr>
                <a:srgbClr val="000000"/>
              </a:buClr>
              <a:buSzPts val="2400"/>
              <a:buFont typeface="Courier New" panose="02070309020205020404" pitchFamily="49" charset="0"/>
              <a:buChar char="o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O.E.3.4: Generar informe de reducción de accidentalidad 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O.E.4: Verificar y validar el sistema</a:t>
            </a:r>
          </a:p>
        </p:txBody>
      </p:sp>
      <p:grpSp>
        <p:nvGrpSpPr>
          <p:cNvPr id="14" name="BotonMenu">
            <a:extLst>
              <a:ext uri="{FF2B5EF4-FFF2-40B4-BE49-F238E27FC236}">
                <a16:creationId xmlns:a16="http://schemas.microsoft.com/office/drawing/2014/main" id="{D6FEE2EA-54D1-4D4C-AE18-51FA19DB7418}"/>
              </a:ext>
            </a:extLst>
          </p:cNvPr>
          <p:cNvGrpSpPr/>
          <p:nvPr/>
        </p:nvGrpSpPr>
        <p:grpSpPr>
          <a:xfrm>
            <a:off x="11485108" y="6069772"/>
            <a:ext cx="541996" cy="493929"/>
            <a:chOff x="11485107" y="6252451"/>
            <a:chExt cx="541996" cy="493929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CA3F4C0E-6BC0-4E95-881D-45C0E2F3AD4F}"/>
                </a:ext>
              </a:extLst>
            </p:cNvPr>
            <p:cNvSpPr/>
            <p:nvPr/>
          </p:nvSpPr>
          <p:spPr>
            <a:xfrm>
              <a:off x="11485107" y="6252451"/>
              <a:ext cx="541996" cy="49392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20" name="Gráfico 19" descr="Icono de menú de hamburguesa con relleno sólido">
              <a:extLst>
                <a:ext uri="{FF2B5EF4-FFF2-40B4-BE49-F238E27FC236}">
                  <a16:creationId xmlns:a16="http://schemas.microsoft.com/office/drawing/2014/main" id="{C7EA0CB6-CAE0-4012-BB06-A6F0172A3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530578" y="6267538"/>
              <a:ext cx="451053" cy="451053"/>
            </a:xfrm>
            <a:prstGeom prst="rect">
              <a:avLst/>
            </a:prstGeom>
          </p:spPr>
        </p:pic>
      </p:grpSp>
      <p:sp>
        <p:nvSpPr>
          <p:cNvPr id="21" name="OE4">
            <a:hlinkClick r:id="rId7" action="ppaction://hlinksldjump"/>
            <a:extLst>
              <a:ext uri="{FF2B5EF4-FFF2-40B4-BE49-F238E27FC236}">
                <a16:creationId xmlns:a16="http://schemas.microsoft.com/office/drawing/2014/main" id="{7EBD3026-E6B2-4548-9994-5BF4CE0A90CB}"/>
              </a:ext>
            </a:extLst>
          </p:cNvPr>
          <p:cNvSpPr/>
          <p:nvPr/>
        </p:nvSpPr>
        <p:spPr>
          <a:xfrm>
            <a:off x="10833101" y="54922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O.E.4</a:t>
            </a:r>
            <a:endParaRPr lang="es-CO" dirty="0"/>
          </a:p>
        </p:txBody>
      </p:sp>
      <p:sp>
        <p:nvSpPr>
          <p:cNvPr id="23" name="OE2">
            <a:hlinkClick r:id="rId8" action="ppaction://hlinksldjump"/>
            <a:extLst>
              <a:ext uri="{FF2B5EF4-FFF2-40B4-BE49-F238E27FC236}">
                <a16:creationId xmlns:a16="http://schemas.microsoft.com/office/drawing/2014/main" id="{656B41C1-14D0-42E2-A0A2-676AE7FD61C7}"/>
              </a:ext>
            </a:extLst>
          </p:cNvPr>
          <p:cNvSpPr/>
          <p:nvPr/>
        </p:nvSpPr>
        <p:spPr>
          <a:xfrm>
            <a:off x="10833100" y="4440485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O.E.2</a:t>
            </a:r>
            <a:endParaRPr lang="es-CO" dirty="0"/>
          </a:p>
        </p:txBody>
      </p:sp>
      <p:sp>
        <p:nvSpPr>
          <p:cNvPr id="24" name="OE1">
            <a:hlinkClick r:id="rId9" action="ppaction://hlinksldjump"/>
            <a:extLst>
              <a:ext uri="{FF2B5EF4-FFF2-40B4-BE49-F238E27FC236}">
                <a16:creationId xmlns:a16="http://schemas.microsoft.com/office/drawing/2014/main" id="{00A253E5-B7F8-4712-92B7-FF81E60F7836}"/>
              </a:ext>
            </a:extLst>
          </p:cNvPr>
          <p:cNvSpPr/>
          <p:nvPr/>
        </p:nvSpPr>
        <p:spPr>
          <a:xfrm>
            <a:off x="10833100" y="392169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O.E.1</a:t>
            </a:r>
            <a:endParaRPr lang="es-CO" dirty="0"/>
          </a:p>
        </p:txBody>
      </p:sp>
      <p:sp>
        <p:nvSpPr>
          <p:cNvPr id="26" name="Rectángulo 25">
            <a:hlinkClick r:id="rId10" action="ppaction://hlinksldjump"/>
            <a:extLst>
              <a:ext uri="{FF2B5EF4-FFF2-40B4-BE49-F238E27FC236}">
                <a16:creationId xmlns:a16="http://schemas.microsoft.com/office/drawing/2014/main" id="{6F14A7CB-F276-49A9-8A62-67948D1152C7}"/>
              </a:ext>
            </a:extLst>
          </p:cNvPr>
          <p:cNvSpPr/>
          <p:nvPr/>
        </p:nvSpPr>
        <p:spPr>
          <a:xfrm>
            <a:off x="9582661" y="54308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O.E.3.2</a:t>
            </a:r>
            <a:endParaRPr lang="es-CO" dirty="0"/>
          </a:p>
        </p:txBody>
      </p:sp>
      <p:sp>
        <p:nvSpPr>
          <p:cNvPr id="27" name="Rectángulo 26">
            <a:hlinkClick r:id="rId11" action="ppaction://hlinksldjump"/>
            <a:extLst>
              <a:ext uri="{FF2B5EF4-FFF2-40B4-BE49-F238E27FC236}">
                <a16:creationId xmlns:a16="http://schemas.microsoft.com/office/drawing/2014/main" id="{B8A5092B-F340-4D0F-A29E-4657712D289B}"/>
              </a:ext>
            </a:extLst>
          </p:cNvPr>
          <p:cNvSpPr/>
          <p:nvPr/>
        </p:nvSpPr>
        <p:spPr>
          <a:xfrm>
            <a:off x="9582661" y="5883243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O.E.3.3</a:t>
            </a:r>
            <a:endParaRPr lang="es-CO" dirty="0"/>
          </a:p>
        </p:txBody>
      </p:sp>
      <p:sp>
        <p:nvSpPr>
          <p:cNvPr id="28" name="Rectángulo 27">
            <a:hlinkClick r:id="rId12" action="ppaction://hlinksldjump"/>
            <a:extLst>
              <a:ext uri="{FF2B5EF4-FFF2-40B4-BE49-F238E27FC236}">
                <a16:creationId xmlns:a16="http://schemas.microsoft.com/office/drawing/2014/main" id="{6ECD6735-73AF-43AA-8C41-518B33011206}"/>
              </a:ext>
            </a:extLst>
          </p:cNvPr>
          <p:cNvSpPr/>
          <p:nvPr/>
        </p:nvSpPr>
        <p:spPr>
          <a:xfrm>
            <a:off x="9582660" y="633567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O.E.3.4</a:t>
            </a:r>
            <a:endParaRPr lang="es-CO" dirty="0"/>
          </a:p>
        </p:txBody>
      </p:sp>
      <p:sp>
        <p:nvSpPr>
          <p:cNvPr id="29" name="Rectángulo 28">
            <a:hlinkClick r:id="rId13" action="ppaction://hlinksldjump"/>
            <a:extLst>
              <a:ext uri="{FF2B5EF4-FFF2-40B4-BE49-F238E27FC236}">
                <a16:creationId xmlns:a16="http://schemas.microsoft.com/office/drawing/2014/main" id="{46B57FB2-57FD-4F08-956C-7A9FCF1E55EF}"/>
              </a:ext>
            </a:extLst>
          </p:cNvPr>
          <p:cNvSpPr/>
          <p:nvPr/>
        </p:nvSpPr>
        <p:spPr>
          <a:xfrm>
            <a:off x="9582660" y="496568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O.E.3.1</a:t>
            </a:r>
            <a:endParaRPr lang="es-CO" dirty="0"/>
          </a:p>
        </p:txBody>
      </p:sp>
      <p:grpSp>
        <p:nvGrpSpPr>
          <p:cNvPr id="8" name="OE3">
            <a:extLst>
              <a:ext uri="{FF2B5EF4-FFF2-40B4-BE49-F238E27FC236}">
                <a16:creationId xmlns:a16="http://schemas.microsoft.com/office/drawing/2014/main" id="{8156AF07-7440-4E40-A409-6BEC2786A968}"/>
              </a:ext>
            </a:extLst>
          </p:cNvPr>
          <p:cNvGrpSpPr/>
          <p:nvPr/>
        </p:nvGrpSpPr>
        <p:grpSpPr>
          <a:xfrm>
            <a:off x="10815014" y="4965460"/>
            <a:ext cx="1212090" cy="438784"/>
            <a:chOff x="10815013" y="5198939"/>
            <a:chExt cx="1212090" cy="438784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E9559126-F61A-4A68-99AF-AF8BB52EA314}"/>
                </a:ext>
              </a:extLst>
            </p:cNvPr>
            <p:cNvSpPr/>
            <p:nvPr/>
          </p:nvSpPr>
          <p:spPr>
            <a:xfrm>
              <a:off x="10833100" y="5198939"/>
              <a:ext cx="1194003" cy="438784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O.E.3</a:t>
              </a:r>
              <a:endParaRPr lang="es-CO" dirty="0"/>
            </a:p>
          </p:txBody>
        </p:sp>
        <p:pic>
          <p:nvPicPr>
            <p:cNvPr id="5" name="Gráfico 4" descr="Signo de intercalación hacia la izquierda con relleno sólido">
              <a:extLst>
                <a:ext uri="{FF2B5EF4-FFF2-40B4-BE49-F238E27FC236}">
                  <a16:creationId xmlns:a16="http://schemas.microsoft.com/office/drawing/2014/main" id="{76CF78F6-135F-4816-A3EC-47761ED91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815013" y="5281611"/>
              <a:ext cx="309034" cy="309034"/>
            </a:xfrm>
            <a:prstGeom prst="rect">
              <a:avLst/>
            </a:prstGeom>
          </p:spPr>
        </p:pic>
      </p:grp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D67FB51-6345-47FB-85F1-492CAF953944}"/>
              </a:ext>
            </a:extLst>
          </p:cNvPr>
          <p:cNvSpPr/>
          <p:nvPr/>
        </p:nvSpPr>
        <p:spPr>
          <a:xfrm>
            <a:off x="10888843" y="6069772"/>
            <a:ext cx="541996" cy="4939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4" name="Gráfico 33" descr="Signo de intercalación hacia la derecha con relleno sólido">
            <a:hlinkClick r:id="rId16" action="ppaction://hlinksldjump"/>
            <a:extLst>
              <a:ext uri="{FF2B5EF4-FFF2-40B4-BE49-F238E27FC236}">
                <a16:creationId xmlns:a16="http://schemas.microsoft.com/office/drawing/2014/main" id="{89EC1BAD-6CDA-41EF-9EC3-433E6B7B66B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88843" y="6031672"/>
            <a:ext cx="583623" cy="58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9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3" grpId="0" animBg="1"/>
      <p:bldP spid="23" grpId="1" animBg="1"/>
      <p:bldP spid="24" grpId="0" animBg="1"/>
      <p:bldP spid="24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6" y="5725695"/>
            <a:ext cx="5408589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Actividades por Objetivo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9504406-1DF9-4780-B741-2B5B64E0B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3B071BF1-AB09-42C8-A646-845DF0C657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68BA6EC-AD9D-425E-8D1E-4FB0E28E1485}"/>
              </a:ext>
            </a:extLst>
          </p:cNvPr>
          <p:cNvSpPr txBox="1"/>
          <p:nvPr/>
        </p:nvSpPr>
        <p:spPr>
          <a:xfrm>
            <a:off x="2305881" y="1611243"/>
            <a:ext cx="8457576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O.E.1: Realizar y documentar la educción de los requerimientos.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99A2D74-D6FE-496D-8008-60B66A02C2C9}"/>
              </a:ext>
            </a:extLst>
          </p:cNvPr>
          <p:cNvSpPr txBox="1"/>
          <p:nvPr/>
        </p:nvSpPr>
        <p:spPr>
          <a:xfrm>
            <a:off x="3100601" y="2459504"/>
            <a:ext cx="76999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O.E.1.1 Seleccionar la técnica para el levantamiento de requisitos.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O.E.1.2 Realizar la educción de requerimientos.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O.E.1.3 Documentar teniendo en cuenta el estándar del formato SRS (Software </a:t>
            </a:r>
            <a:r>
              <a:rPr lang="es-ES" sz="2400" dirty="0" err="1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Requierement</a:t>
            </a: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 </a:t>
            </a:r>
            <a:r>
              <a:rPr lang="es-ES" sz="2400" dirty="0" err="1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Specification</a:t>
            </a: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).</a:t>
            </a:r>
            <a:endParaRPr lang="es-CO" sz="24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grpSp>
        <p:nvGrpSpPr>
          <p:cNvPr id="15" name="BotonMenu">
            <a:extLst>
              <a:ext uri="{FF2B5EF4-FFF2-40B4-BE49-F238E27FC236}">
                <a16:creationId xmlns:a16="http://schemas.microsoft.com/office/drawing/2014/main" id="{F00C92B9-2C0E-458F-A1FD-CF4FF5DEEF0A}"/>
              </a:ext>
            </a:extLst>
          </p:cNvPr>
          <p:cNvGrpSpPr/>
          <p:nvPr/>
        </p:nvGrpSpPr>
        <p:grpSpPr>
          <a:xfrm>
            <a:off x="11485108" y="6069772"/>
            <a:ext cx="541996" cy="493929"/>
            <a:chOff x="11485107" y="6252451"/>
            <a:chExt cx="541996" cy="493929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B767D842-FBE1-4DC8-A745-E70A50E29803}"/>
                </a:ext>
              </a:extLst>
            </p:cNvPr>
            <p:cNvSpPr/>
            <p:nvPr/>
          </p:nvSpPr>
          <p:spPr>
            <a:xfrm>
              <a:off x="11485107" y="6252451"/>
              <a:ext cx="541996" cy="49392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21" name="Gráfico 20" descr="Icono de menú de hamburguesa con relleno sólido">
              <a:extLst>
                <a:ext uri="{FF2B5EF4-FFF2-40B4-BE49-F238E27FC236}">
                  <a16:creationId xmlns:a16="http://schemas.microsoft.com/office/drawing/2014/main" id="{4CD5591F-1959-4DB9-A335-A1312FE0C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530578" y="6267538"/>
              <a:ext cx="451053" cy="451053"/>
            </a:xfrm>
            <a:prstGeom prst="rect">
              <a:avLst/>
            </a:prstGeom>
          </p:spPr>
        </p:pic>
      </p:grpSp>
      <p:sp>
        <p:nvSpPr>
          <p:cNvPr id="22" name="OE4">
            <a:hlinkClick r:id="rId7" action="ppaction://hlinksldjump"/>
            <a:extLst>
              <a:ext uri="{FF2B5EF4-FFF2-40B4-BE49-F238E27FC236}">
                <a16:creationId xmlns:a16="http://schemas.microsoft.com/office/drawing/2014/main" id="{A77151E6-9840-4DC6-86B1-1EA933418D8D}"/>
              </a:ext>
            </a:extLst>
          </p:cNvPr>
          <p:cNvSpPr/>
          <p:nvPr/>
        </p:nvSpPr>
        <p:spPr>
          <a:xfrm>
            <a:off x="10833101" y="54922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O.E.4</a:t>
            </a:r>
            <a:endParaRPr lang="es-CO" dirty="0"/>
          </a:p>
        </p:txBody>
      </p:sp>
      <p:sp>
        <p:nvSpPr>
          <p:cNvPr id="23" name="OE2">
            <a:hlinkClick r:id="rId8" action="ppaction://hlinksldjump"/>
            <a:extLst>
              <a:ext uri="{FF2B5EF4-FFF2-40B4-BE49-F238E27FC236}">
                <a16:creationId xmlns:a16="http://schemas.microsoft.com/office/drawing/2014/main" id="{D0AE92EB-0B25-4D41-9730-DB2A4AF36050}"/>
              </a:ext>
            </a:extLst>
          </p:cNvPr>
          <p:cNvSpPr/>
          <p:nvPr/>
        </p:nvSpPr>
        <p:spPr>
          <a:xfrm>
            <a:off x="10833100" y="4440485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O.E.2</a:t>
            </a:r>
            <a:endParaRPr lang="es-CO" dirty="0"/>
          </a:p>
        </p:txBody>
      </p:sp>
      <p:sp>
        <p:nvSpPr>
          <p:cNvPr id="24" name="OE1">
            <a:hlinkClick r:id="rId9" action="ppaction://hlinksldjump"/>
            <a:extLst>
              <a:ext uri="{FF2B5EF4-FFF2-40B4-BE49-F238E27FC236}">
                <a16:creationId xmlns:a16="http://schemas.microsoft.com/office/drawing/2014/main" id="{FEA226CF-4E1F-429A-9963-478AF0F9CEAB}"/>
              </a:ext>
            </a:extLst>
          </p:cNvPr>
          <p:cNvSpPr/>
          <p:nvPr/>
        </p:nvSpPr>
        <p:spPr>
          <a:xfrm>
            <a:off x="10833100" y="392169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O.E.1</a:t>
            </a:r>
            <a:endParaRPr lang="es-CO" dirty="0"/>
          </a:p>
        </p:txBody>
      </p:sp>
      <p:sp>
        <p:nvSpPr>
          <p:cNvPr id="25" name="Rectángulo 24">
            <a:hlinkClick r:id="rId10" action="ppaction://hlinksldjump"/>
            <a:extLst>
              <a:ext uri="{FF2B5EF4-FFF2-40B4-BE49-F238E27FC236}">
                <a16:creationId xmlns:a16="http://schemas.microsoft.com/office/drawing/2014/main" id="{A529ECB3-178D-48B5-9681-8E3A80E21E9B}"/>
              </a:ext>
            </a:extLst>
          </p:cNvPr>
          <p:cNvSpPr/>
          <p:nvPr/>
        </p:nvSpPr>
        <p:spPr>
          <a:xfrm>
            <a:off x="9582661" y="54308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O.E.3.2</a:t>
            </a:r>
            <a:endParaRPr lang="es-CO" dirty="0"/>
          </a:p>
        </p:txBody>
      </p:sp>
      <p:sp>
        <p:nvSpPr>
          <p:cNvPr id="26" name="Rectángulo 25">
            <a:hlinkClick r:id="rId11" action="ppaction://hlinksldjump"/>
            <a:extLst>
              <a:ext uri="{FF2B5EF4-FFF2-40B4-BE49-F238E27FC236}">
                <a16:creationId xmlns:a16="http://schemas.microsoft.com/office/drawing/2014/main" id="{A9238E30-6FD3-42B7-B1B1-143527F55873}"/>
              </a:ext>
            </a:extLst>
          </p:cNvPr>
          <p:cNvSpPr/>
          <p:nvPr/>
        </p:nvSpPr>
        <p:spPr>
          <a:xfrm>
            <a:off x="9582661" y="5883243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O.E.3.3</a:t>
            </a:r>
            <a:endParaRPr lang="es-CO" dirty="0"/>
          </a:p>
        </p:txBody>
      </p:sp>
      <p:sp>
        <p:nvSpPr>
          <p:cNvPr id="27" name="Rectángulo 26">
            <a:hlinkClick r:id="rId12" action="ppaction://hlinksldjump"/>
            <a:extLst>
              <a:ext uri="{FF2B5EF4-FFF2-40B4-BE49-F238E27FC236}">
                <a16:creationId xmlns:a16="http://schemas.microsoft.com/office/drawing/2014/main" id="{34722422-CEA6-47F5-9471-888DAA502E38}"/>
              </a:ext>
            </a:extLst>
          </p:cNvPr>
          <p:cNvSpPr/>
          <p:nvPr/>
        </p:nvSpPr>
        <p:spPr>
          <a:xfrm>
            <a:off x="9582660" y="633567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O.E.3.4</a:t>
            </a:r>
            <a:endParaRPr lang="es-CO" dirty="0"/>
          </a:p>
        </p:txBody>
      </p:sp>
      <p:sp>
        <p:nvSpPr>
          <p:cNvPr id="28" name="Rectángulo 27">
            <a:hlinkClick r:id="rId13" action="ppaction://hlinksldjump"/>
            <a:extLst>
              <a:ext uri="{FF2B5EF4-FFF2-40B4-BE49-F238E27FC236}">
                <a16:creationId xmlns:a16="http://schemas.microsoft.com/office/drawing/2014/main" id="{BFA05036-5F07-4F46-BFF7-B8BAA5455AB6}"/>
              </a:ext>
            </a:extLst>
          </p:cNvPr>
          <p:cNvSpPr/>
          <p:nvPr/>
        </p:nvSpPr>
        <p:spPr>
          <a:xfrm>
            <a:off x="9582660" y="496568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O.E.3.1</a:t>
            </a:r>
            <a:endParaRPr lang="es-CO" dirty="0"/>
          </a:p>
        </p:txBody>
      </p:sp>
      <p:grpSp>
        <p:nvGrpSpPr>
          <p:cNvPr id="29" name="OE3">
            <a:extLst>
              <a:ext uri="{FF2B5EF4-FFF2-40B4-BE49-F238E27FC236}">
                <a16:creationId xmlns:a16="http://schemas.microsoft.com/office/drawing/2014/main" id="{2EFC6AE5-145E-413F-A4DC-4A5DB9211C22}"/>
              </a:ext>
            </a:extLst>
          </p:cNvPr>
          <p:cNvGrpSpPr/>
          <p:nvPr/>
        </p:nvGrpSpPr>
        <p:grpSpPr>
          <a:xfrm>
            <a:off x="10815014" y="4965460"/>
            <a:ext cx="1212090" cy="438784"/>
            <a:chOff x="10815013" y="5198939"/>
            <a:chExt cx="1212090" cy="438784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02731117-C6D8-4C14-9442-F5939834B109}"/>
                </a:ext>
              </a:extLst>
            </p:cNvPr>
            <p:cNvSpPr/>
            <p:nvPr/>
          </p:nvSpPr>
          <p:spPr>
            <a:xfrm>
              <a:off x="10833100" y="5198939"/>
              <a:ext cx="1194003" cy="438784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O.E.3</a:t>
              </a:r>
              <a:endParaRPr lang="es-CO" dirty="0"/>
            </a:p>
          </p:txBody>
        </p:sp>
        <p:pic>
          <p:nvPicPr>
            <p:cNvPr id="31" name="Gráfico 30" descr="Signo de intercalación hacia la izquierda con relleno sólido">
              <a:extLst>
                <a:ext uri="{FF2B5EF4-FFF2-40B4-BE49-F238E27FC236}">
                  <a16:creationId xmlns:a16="http://schemas.microsoft.com/office/drawing/2014/main" id="{22FE3AD6-D97A-4155-978F-B1CA7B1D2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815013" y="5281611"/>
              <a:ext cx="309034" cy="309034"/>
            </a:xfrm>
            <a:prstGeom prst="rect">
              <a:avLst/>
            </a:prstGeom>
          </p:spPr>
        </p:pic>
      </p:grp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0FDA77D-D8BC-4189-AA29-EA4496AD1076}"/>
              </a:ext>
            </a:extLst>
          </p:cNvPr>
          <p:cNvSpPr/>
          <p:nvPr/>
        </p:nvSpPr>
        <p:spPr>
          <a:xfrm>
            <a:off x="10888843" y="6069772"/>
            <a:ext cx="541996" cy="4939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3" name="Gráfico 32" descr="Signo de intercalación hacia la derecha con relleno sólido">
            <a:hlinkClick r:id="rId16" action="ppaction://hlinksldjump"/>
            <a:extLst>
              <a:ext uri="{FF2B5EF4-FFF2-40B4-BE49-F238E27FC236}">
                <a16:creationId xmlns:a16="http://schemas.microsoft.com/office/drawing/2014/main" id="{D91963DF-CB31-42CF-B406-EB55623E5D2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88843" y="6031672"/>
            <a:ext cx="583623" cy="58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3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6" y="5725695"/>
            <a:ext cx="5408589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Actividades por Objetivo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9504406-1DF9-4780-B741-2B5B64E0B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3B071BF1-AB09-42C8-A646-845DF0C657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2B509C6-D2B7-428A-9874-5B593562CDF4}"/>
              </a:ext>
            </a:extLst>
          </p:cNvPr>
          <p:cNvSpPr txBox="1"/>
          <p:nvPr/>
        </p:nvSpPr>
        <p:spPr>
          <a:xfrm>
            <a:off x="2490415" y="1520190"/>
            <a:ext cx="8171735" cy="916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O.E.2: Diseñar un sistema para la gestión del área de seguridad y salud en el trabajo. </a:t>
            </a:r>
            <a:endParaRPr lang="es-ES" sz="1800" dirty="0">
              <a:solidFill>
                <a:schemeClr val="dk1"/>
              </a:solidFill>
              <a:latin typeface="Calibri"/>
              <a:cs typeface="Calibri"/>
              <a:sym typeface="Times New Roman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FDF2EB3-519E-423A-AC76-457D79804C53}"/>
              </a:ext>
            </a:extLst>
          </p:cNvPr>
          <p:cNvSpPr txBox="1"/>
          <p:nvPr/>
        </p:nvSpPr>
        <p:spPr>
          <a:xfrm>
            <a:off x="2954131" y="2704953"/>
            <a:ext cx="792590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O.E.2.1 Definir las tecnologías y herramientas adecuadas para el desarrollo del sistema.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O.E.2.2 Diseñar los casos de prueba y criterios de aceptación.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O.E.2.3 Documentar la arquitectura de software.</a:t>
            </a:r>
            <a:endParaRPr lang="es-CO" sz="24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grpSp>
        <p:nvGrpSpPr>
          <p:cNvPr id="14" name="BotonMenu">
            <a:extLst>
              <a:ext uri="{FF2B5EF4-FFF2-40B4-BE49-F238E27FC236}">
                <a16:creationId xmlns:a16="http://schemas.microsoft.com/office/drawing/2014/main" id="{464FF28A-16C8-499B-A6CC-D0095AF1BE63}"/>
              </a:ext>
            </a:extLst>
          </p:cNvPr>
          <p:cNvGrpSpPr/>
          <p:nvPr/>
        </p:nvGrpSpPr>
        <p:grpSpPr>
          <a:xfrm>
            <a:off x="11485108" y="6069772"/>
            <a:ext cx="541996" cy="493929"/>
            <a:chOff x="11485107" y="6252451"/>
            <a:chExt cx="541996" cy="493929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0A3978D1-E5F4-423C-BD33-4EA6E58A0010}"/>
                </a:ext>
              </a:extLst>
            </p:cNvPr>
            <p:cNvSpPr/>
            <p:nvPr/>
          </p:nvSpPr>
          <p:spPr>
            <a:xfrm>
              <a:off x="11485107" y="6252451"/>
              <a:ext cx="541996" cy="49392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20" name="Gráfico 19" descr="Icono de menú de hamburguesa con relleno sólido">
              <a:extLst>
                <a:ext uri="{FF2B5EF4-FFF2-40B4-BE49-F238E27FC236}">
                  <a16:creationId xmlns:a16="http://schemas.microsoft.com/office/drawing/2014/main" id="{173C80BB-2B96-4CB7-B110-0678E32C7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530578" y="6267538"/>
              <a:ext cx="451053" cy="451053"/>
            </a:xfrm>
            <a:prstGeom prst="rect">
              <a:avLst/>
            </a:prstGeom>
          </p:spPr>
        </p:pic>
      </p:grpSp>
      <p:sp>
        <p:nvSpPr>
          <p:cNvPr id="21" name="OE4">
            <a:hlinkClick r:id="rId7" action="ppaction://hlinksldjump"/>
            <a:extLst>
              <a:ext uri="{FF2B5EF4-FFF2-40B4-BE49-F238E27FC236}">
                <a16:creationId xmlns:a16="http://schemas.microsoft.com/office/drawing/2014/main" id="{9DF8B21D-BC06-4269-9FA1-D4477F539B7B}"/>
              </a:ext>
            </a:extLst>
          </p:cNvPr>
          <p:cNvSpPr/>
          <p:nvPr/>
        </p:nvSpPr>
        <p:spPr>
          <a:xfrm>
            <a:off x="10833101" y="54922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O.E.4</a:t>
            </a:r>
            <a:endParaRPr lang="es-CO" dirty="0"/>
          </a:p>
        </p:txBody>
      </p:sp>
      <p:sp>
        <p:nvSpPr>
          <p:cNvPr id="22" name="OE2">
            <a:hlinkClick r:id="rId8" action="ppaction://hlinksldjump"/>
            <a:extLst>
              <a:ext uri="{FF2B5EF4-FFF2-40B4-BE49-F238E27FC236}">
                <a16:creationId xmlns:a16="http://schemas.microsoft.com/office/drawing/2014/main" id="{68B4B885-0DB0-4975-95D7-950C5E7C807C}"/>
              </a:ext>
            </a:extLst>
          </p:cNvPr>
          <p:cNvSpPr/>
          <p:nvPr/>
        </p:nvSpPr>
        <p:spPr>
          <a:xfrm>
            <a:off x="10833100" y="4440485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O.E.2</a:t>
            </a:r>
            <a:endParaRPr lang="es-CO" dirty="0"/>
          </a:p>
        </p:txBody>
      </p:sp>
      <p:sp>
        <p:nvSpPr>
          <p:cNvPr id="23" name="OE1">
            <a:hlinkClick r:id="rId9" action="ppaction://hlinksldjump"/>
            <a:extLst>
              <a:ext uri="{FF2B5EF4-FFF2-40B4-BE49-F238E27FC236}">
                <a16:creationId xmlns:a16="http://schemas.microsoft.com/office/drawing/2014/main" id="{967E372D-4783-4400-A240-94A00C2D63D2}"/>
              </a:ext>
            </a:extLst>
          </p:cNvPr>
          <p:cNvSpPr/>
          <p:nvPr/>
        </p:nvSpPr>
        <p:spPr>
          <a:xfrm>
            <a:off x="10833100" y="392169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O.E.1</a:t>
            </a:r>
            <a:endParaRPr lang="es-CO" dirty="0"/>
          </a:p>
        </p:txBody>
      </p:sp>
      <p:sp>
        <p:nvSpPr>
          <p:cNvPr id="24" name="Rectángulo 23">
            <a:hlinkClick r:id="rId10" action="ppaction://hlinksldjump"/>
            <a:extLst>
              <a:ext uri="{FF2B5EF4-FFF2-40B4-BE49-F238E27FC236}">
                <a16:creationId xmlns:a16="http://schemas.microsoft.com/office/drawing/2014/main" id="{17071219-AA0A-4F3B-9885-0D8D2572AD11}"/>
              </a:ext>
            </a:extLst>
          </p:cNvPr>
          <p:cNvSpPr/>
          <p:nvPr/>
        </p:nvSpPr>
        <p:spPr>
          <a:xfrm>
            <a:off x="9582661" y="54308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O.E.3.2</a:t>
            </a:r>
            <a:endParaRPr lang="es-CO" dirty="0"/>
          </a:p>
        </p:txBody>
      </p:sp>
      <p:sp>
        <p:nvSpPr>
          <p:cNvPr id="25" name="Rectángulo 24">
            <a:hlinkClick r:id="rId11" action="ppaction://hlinksldjump"/>
            <a:extLst>
              <a:ext uri="{FF2B5EF4-FFF2-40B4-BE49-F238E27FC236}">
                <a16:creationId xmlns:a16="http://schemas.microsoft.com/office/drawing/2014/main" id="{8F379034-FDA4-4D2C-B83C-091961FDB0D7}"/>
              </a:ext>
            </a:extLst>
          </p:cNvPr>
          <p:cNvSpPr/>
          <p:nvPr/>
        </p:nvSpPr>
        <p:spPr>
          <a:xfrm>
            <a:off x="9582661" y="5883243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O.E.3.3</a:t>
            </a:r>
            <a:endParaRPr lang="es-CO" dirty="0"/>
          </a:p>
        </p:txBody>
      </p:sp>
      <p:sp>
        <p:nvSpPr>
          <p:cNvPr id="26" name="Rectángulo 25">
            <a:hlinkClick r:id="rId12" action="ppaction://hlinksldjump"/>
            <a:extLst>
              <a:ext uri="{FF2B5EF4-FFF2-40B4-BE49-F238E27FC236}">
                <a16:creationId xmlns:a16="http://schemas.microsoft.com/office/drawing/2014/main" id="{C0BEEECB-B83A-41A7-839C-1364437DC1CC}"/>
              </a:ext>
            </a:extLst>
          </p:cNvPr>
          <p:cNvSpPr/>
          <p:nvPr/>
        </p:nvSpPr>
        <p:spPr>
          <a:xfrm>
            <a:off x="9582660" y="633567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O.E.3.4</a:t>
            </a:r>
            <a:endParaRPr lang="es-CO" dirty="0"/>
          </a:p>
        </p:txBody>
      </p:sp>
      <p:sp>
        <p:nvSpPr>
          <p:cNvPr id="27" name="Rectángulo 26">
            <a:hlinkClick r:id="rId13" action="ppaction://hlinksldjump"/>
            <a:extLst>
              <a:ext uri="{FF2B5EF4-FFF2-40B4-BE49-F238E27FC236}">
                <a16:creationId xmlns:a16="http://schemas.microsoft.com/office/drawing/2014/main" id="{01C390D0-9D0B-4926-B100-9904307626A1}"/>
              </a:ext>
            </a:extLst>
          </p:cNvPr>
          <p:cNvSpPr/>
          <p:nvPr/>
        </p:nvSpPr>
        <p:spPr>
          <a:xfrm>
            <a:off x="9582660" y="496568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O.E.3.1</a:t>
            </a:r>
            <a:endParaRPr lang="es-CO" dirty="0"/>
          </a:p>
        </p:txBody>
      </p:sp>
      <p:grpSp>
        <p:nvGrpSpPr>
          <p:cNvPr id="28" name="OE3">
            <a:extLst>
              <a:ext uri="{FF2B5EF4-FFF2-40B4-BE49-F238E27FC236}">
                <a16:creationId xmlns:a16="http://schemas.microsoft.com/office/drawing/2014/main" id="{037B9C10-842A-4F3C-BC48-F2166722CC28}"/>
              </a:ext>
            </a:extLst>
          </p:cNvPr>
          <p:cNvGrpSpPr/>
          <p:nvPr/>
        </p:nvGrpSpPr>
        <p:grpSpPr>
          <a:xfrm>
            <a:off x="10815014" y="4965460"/>
            <a:ext cx="1212090" cy="438784"/>
            <a:chOff x="10815013" y="5198939"/>
            <a:chExt cx="1212090" cy="438784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EB90882-4C88-4E2B-BDF3-99C39F709249}"/>
                </a:ext>
              </a:extLst>
            </p:cNvPr>
            <p:cNvSpPr/>
            <p:nvPr/>
          </p:nvSpPr>
          <p:spPr>
            <a:xfrm>
              <a:off x="10833100" y="5198939"/>
              <a:ext cx="1194003" cy="438784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O.E.3</a:t>
              </a:r>
              <a:endParaRPr lang="es-CO" dirty="0"/>
            </a:p>
          </p:txBody>
        </p:sp>
        <p:pic>
          <p:nvPicPr>
            <p:cNvPr id="30" name="Gráfico 29" descr="Signo de intercalación hacia la izquierda con relleno sólido">
              <a:extLst>
                <a:ext uri="{FF2B5EF4-FFF2-40B4-BE49-F238E27FC236}">
                  <a16:creationId xmlns:a16="http://schemas.microsoft.com/office/drawing/2014/main" id="{B5020E8D-C96E-4264-8521-0831DB277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815013" y="5281611"/>
              <a:ext cx="309034" cy="309034"/>
            </a:xfrm>
            <a:prstGeom prst="rect">
              <a:avLst/>
            </a:prstGeom>
          </p:spPr>
        </p:pic>
      </p:grp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7DCD893-817A-4011-B2BC-F258D32B40C5}"/>
              </a:ext>
            </a:extLst>
          </p:cNvPr>
          <p:cNvSpPr/>
          <p:nvPr/>
        </p:nvSpPr>
        <p:spPr>
          <a:xfrm>
            <a:off x="10888843" y="6069772"/>
            <a:ext cx="541996" cy="4939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2" name="Gráfico 31" descr="Signo de intercalación hacia la derecha con relleno sólido">
            <a:hlinkClick r:id="rId16" action="ppaction://hlinksldjump"/>
            <a:extLst>
              <a:ext uri="{FF2B5EF4-FFF2-40B4-BE49-F238E27FC236}">
                <a16:creationId xmlns:a16="http://schemas.microsoft.com/office/drawing/2014/main" id="{5BBCC103-66A8-4DF5-B410-BF72624C328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88843" y="6031672"/>
            <a:ext cx="583623" cy="58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1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6" y="5725695"/>
            <a:ext cx="5408589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Actividades por Objetivo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9504406-1DF9-4780-B741-2B5B64E0B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3B071BF1-AB09-42C8-A646-845DF0C657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ED5C717-98AF-49C9-ACFA-BAA7844612D4}"/>
              </a:ext>
            </a:extLst>
          </p:cNvPr>
          <p:cNvSpPr txBox="1"/>
          <p:nvPr/>
        </p:nvSpPr>
        <p:spPr>
          <a:xfrm>
            <a:off x="2438403" y="1176505"/>
            <a:ext cx="8223747" cy="134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O.E.3: Desarrollar una herramienta que permita:</a:t>
            </a:r>
          </a:p>
          <a:p>
            <a:pPr marL="914400" lvl="1" indent="-457200" algn="just">
              <a:lnSpc>
                <a:spcPct val="115000"/>
              </a:lnSpc>
              <a:buClr>
                <a:srgbClr val="000000"/>
              </a:buClr>
              <a:buSzPts val="2400"/>
              <a:buFont typeface="Courier New" panose="02070309020205020404" pitchFamily="49" charset="0"/>
              <a:buChar char="o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O.E.3.1: Reportar incidentes, accidentes, riesgos o amenazas.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8DE66CB-65F9-42AC-A41D-6169CAE1ABF6}"/>
              </a:ext>
            </a:extLst>
          </p:cNvPr>
          <p:cNvSpPr txBox="1"/>
          <p:nvPr/>
        </p:nvSpPr>
        <p:spPr>
          <a:xfrm>
            <a:off x="3248667" y="2531734"/>
            <a:ext cx="76401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O.E.3.1 Crear un modulo que permita determinar el lugar en que se realiza el reporte.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O.E.3.2 Crear un modulo para hacer el reporte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O.E.3.3 Clasificar la importancia del reporte por la concurrencia del lugar y la probabilidad de lesiones </a:t>
            </a:r>
            <a:endParaRPr lang="es-CO" sz="24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grpSp>
        <p:nvGrpSpPr>
          <p:cNvPr id="14" name="BotonMenu">
            <a:extLst>
              <a:ext uri="{FF2B5EF4-FFF2-40B4-BE49-F238E27FC236}">
                <a16:creationId xmlns:a16="http://schemas.microsoft.com/office/drawing/2014/main" id="{5F92C5CC-75C9-4A83-AD3F-F825877D020B}"/>
              </a:ext>
            </a:extLst>
          </p:cNvPr>
          <p:cNvGrpSpPr/>
          <p:nvPr/>
        </p:nvGrpSpPr>
        <p:grpSpPr>
          <a:xfrm>
            <a:off x="11485108" y="6069772"/>
            <a:ext cx="541996" cy="493929"/>
            <a:chOff x="11485107" y="6252451"/>
            <a:chExt cx="541996" cy="493929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CCCA06B6-104C-4257-B05E-A24803B91232}"/>
                </a:ext>
              </a:extLst>
            </p:cNvPr>
            <p:cNvSpPr/>
            <p:nvPr/>
          </p:nvSpPr>
          <p:spPr>
            <a:xfrm>
              <a:off x="11485107" y="6252451"/>
              <a:ext cx="541996" cy="49392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20" name="Gráfico 19" descr="Icono de menú de hamburguesa con relleno sólido">
              <a:extLst>
                <a:ext uri="{FF2B5EF4-FFF2-40B4-BE49-F238E27FC236}">
                  <a16:creationId xmlns:a16="http://schemas.microsoft.com/office/drawing/2014/main" id="{29F39BB9-9BB1-40BF-87DB-DCA9D81CB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530578" y="6267538"/>
              <a:ext cx="451053" cy="451053"/>
            </a:xfrm>
            <a:prstGeom prst="rect">
              <a:avLst/>
            </a:prstGeom>
          </p:spPr>
        </p:pic>
      </p:grpSp>
      <p:sp>
        <p:nvSpPr>
          <p:cNvPr id="21" name="OE4">
            <a:hlinkClick r:id="rId7" action="ppaction://hlinksldjump"/>
            <a:extLst>
              <a:ext uri="{FF2B5EF4-FFF2-40B4-BE49-F238E27FC236}">
                <a16:creationId xmlns:a16="http://schemas.microsoft.com/office/drawing/2014/main" id="{D845B5FF-F19B-475B-BCBD-13AF7DD8DD0C}"/>
              </a:ext>
            </a:extLst>
          </p:cNvPr>
          <p:cNvSpPr/>
          <p:nvPr/>
        </p:nvSpPr>
        <p:spPr>
          <a:xfrm>
            <a:off x="10833101" y="54922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O.E.4</a:t>
            </a:r>
            <a:endParaRPr lang="es-CO" dirty="0"/>
          </a:p>
        </p:txBody>
      </p:sp>
      <p:sp>
        <p:nvSpPr>
          <p:cNvPr id="22" name="OE2">
            <a:hlinkClick r:id="rId8" action="ppaction://hlinksldjump"/>
            <a:extLst>
              <a:ext uri="{FF2B5EF4-FFF2-40B4-BE49-F238E27FC236}">
                <a16:creationId xmlns:a16="http://schemas.microsoft.com/office/drawing/2014/main" id="{505F4447-859A-456D-9999-ADD3CCEBECD4}"/>
              </a:ext>
            </a:extLst>
          </p:cNvPr>
          <p:cNvSpPr/>
          <p:nvPr/>
        </p:nvSpPr>
        <p:spPr>
          <a:xfrm>
            <a:off x="10833100" y="4440485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O.E.2</a:t>
            </a:r>
            <a:endParaRPr lang="es-CO" dirty="0"/>
          </a:p>
        </p:txBody>
      </p:sp>
      <p:sp>
        <p:nvSpPr>
          <p:cNvPr id="23" name="OE1">
            <a:hlinkClick r:id="rId9" action="ppaction://hlinksldjump"/>
            <a:extLst>
              <a:ext uri="{FF2B5EF4-FFF2-40B4-BE49-F238E27FC236}">
                <a16:creationId xmlns:a16="http://schemas.microsoft.com/office/drawing/2014/main" id="{E0E0021A-9DD2-450C-9FF1-812FC9B7F52B}"/>
              </a:ext>
            </a:extLst>
          </p:cNvPr>
          <p:cNvSpPr/>
          <p:nvPr/>
        </p:nvSpPr>
        <p:spPr>
          <a:xfrm>
            <a:off x="10833100" y="392169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O.E.1</a:t>
            </a:r>
            <a:endParaRPr lang="es-CO" dirty="0"/>
          </a:p>
        </p:txBody>
      </p:sp>
      <p:sp>
        <p:nvSpPr>
          <p:cNvPr id="24" name="Rectángulo 23">
            <a:hlinkClick r:id="rId10" action="ppaction://hlinksldjump"/>
            <a:extLst>
              <a:ext uri="{FF2B5EF4-FFF2-40B4-BE49-F238E27FC236}">
                <a16:creationId xmlns:a16="http://schemas.microsoft.com/office/drawing/2014/main" id="{35E684ED-E169-464E-94FF-1BBBF823F52C}"/>
              </a:ext>
            </a:extLst>
          </p:cNvPr>
          <p:cNvSpPr/>
          <p:nvPr/>
        </p:nvSpPr>
        <p:spPr>
          <a:xfrm>
            <a:off x="9582661" y="54308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O.E.3.2</a:t>
            </a:r>
            <a:endParaRPr lang="es-CO" dirty="0"/>
          </a:p>
        </p:txBody>
      </p:sp>
      <p:sp>
        <p:nvSpPr>
          <p:cNvPr id="25" name="Rectángulo 24">
            <a:hlinkClick r:id="rId11" action="ppaction://hlinksldjump"/>
            <a:extLst>
              <a:ext uri="{FF2B5EF4-FFF2-40B4-BE49-F238E27FC236}">
                <a16:creationId xmlns:a16="http://schemas.microsoft.com/office/drawing/2014/main" id="{51708032-B367-46BD-B795-CEF9DD25A6E1}"/>
              </a:ext>
            </a:extLst>
          </p:cNvPr>
          <p:cNvSpPr/>
          <p:nvPr/>
        </p:nvSpPr>
        <p:spPr>
          <a:xfrm>
            <a:off x="9582661" y="5883243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O.E.3.3</a:t>
            </a:r>
            <a:endParaRPr lang="es-CO" dirty="0"/>
          </a:p>
        </p:txBody>
      </p:sp>
      <p:sp>
        <p:nvSpPr>
          <p:cNvPr id="26" name="Rectángulo 25">
            <a:hlinkClick r:id="rId12" action="ppaction://hlinksldjump"/>
            <a:extLst>
              <a:ext uri="{FF2B5EF4-FFF2-40B4-BE49-F238E27FC236}">
                <a16:creationId xmlns:a16="http://schemas.microsoft.com/office/drawing/2014/main" id="{013D33F6-B72A-4BF4-B688-1DEEB9A6A52C}"/>
              </a:ext>
            </a:extLst>
          </p:cNvPr>
          <p:cNvSpPr/>
          <p:nvPr/>
        </p:nvSpPr>
        <p:spPr>
          <a:xfrm>
            <a:off x="9582660" y="633567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O.E.3.4</a:t>
            </a:r>
            <a:endParaRPr lang="es-CO" dirty="0"/>
          </a:p>
        </p:txBody>
      </p:sp>
      <p:sp>
        <p:nvSpPr>
          <p:cNvPr id="27" name="Rectángulo 26">
            <a:hlinkClick r:id="rId13" action="ppaction://hlinksldjump"/>
            <a:extLst>
              <a:ext uri="{FF2B5EF4-FFF2-40B4-BE49-F238E27FC236}">
                <a16:creationId xmlns:a16="http://schemas.microsoft.com/office/drawing/2014/main" id="{2E8CA553-22BC-4BBA-92F2-C0DA3C0D950F}"/>
              </a:ext>
            </a:extLst>
          </p:cNvPr>
          <p:cNvSpPr/>
          <p:nvPr/>
        </p:nvSpPr>
        <p:spPr>
          <a:xfrm>
            <a:off x="9582660" y="496568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O.E.3.1</a:t>
            </a:r>
            <a:endParaRPr lang="es-CO" dirty="0"/>
          </a:p>
        </p:txBody>
      </p:sp>
      <p:grpSp>
        <p:nvGrpSpPr>
          <p:cNvPr id="28" name="OE3">
            <a:extLst>
              <a:ext uri="{FF2B5EF4-FFF2-40B4-BE49-F238E27FC236}">
                <a16:creationId xmlns:a16="http://schemas.microsoft.com/office/drawing/2014/main" id="{262426CE-450B-4BCA-9A16-65EDAD9A46AC}"/>
              </a:ext>
            </a:extLst>
          </p:cNvPr>
          <p:cNvGrpSpPr/>
          <p:nvPr/>
        </p:nvGrpSpPr>
        <p:grpSpPr>
          <a:xfrm>
            <a:off x="10815014" y="4965460"/>
            <a:ext cx="1212090" cy="438784"/>
            <a:chOff x="10815013" y="5198939"/>
            <a:chExt cx="1212090" cy="438784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5066C2C8-5848-4AA0-83E7-A5A0409EC179}"/>
                </a:ext>
              </a:extLst>
            </p:cNvPr>
            <p:cNvSpPr/>
            <p:nvPr/>
          </p:nvSpPr>
          <p:spPr>
            <a:xfrm>
              <a:off x="10833100" y="5198939"/>
              <a:ext cx="1194003" cy="438784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O.E.3</a:t>
              </a:r>
              <a:endParaRPr lang="es-CO" dirty="0"/>
            </a:p>
          </p:txBody>
        </p:sp>
        <p:pic>
          <p:nvPicPr>
            <p:cNvPr id="30" name="Gráfico 29" descr="Signo de intercalación hacia la izquierda con relleno sólido">
              <a:extLst>
                <a:ext uri="{FF2B5EF4-FFF2-40B4-BE49-F238E27FC236}">
                  <a16:creationId xmlns:a16="http://schemas.microsoft.com/office/drawing/2014/main" id="{BBAAE735-08F0-4827-A47C-F4E58B36D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815013" y="5281611"/>
              <a:ext cx="309034" cy="309034"/>
            </a:xfrm>
            <a:prstGeom prst="rect">
              <a:avLst/>
            </a:prstGeom>
          </p:spPr>
        </p:pic>
      </p:grp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C34575C-4124-47CA-A9C9-FF7011B5A388}"/>
              </a:ext>
            </a:extLst>
          </p:cNvPr>
          <p:cNvSpPr/>
          <p:nvPr/>
        </p:nvSpPr>
        <p:spPr>
          <a:xfrm>
            <a:off x="10888843" y="6069772"/>
            <a:ext cx="541996" cy="4939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2" name="Gráfico 31" descr="Signo de intercalación hacia la derecha con relleno sólido">
            <a:hlinkClick r:id="rId16" action="ppaction://hlinksldjump"/>
            <a:extLst>
              <a:ext uri="{FF2B5EF4-FFF2-40B4-BE49-F238E27FC236}">
                <a16:creationId xmlns:a16="http://schemas.microsoft.com/office/drawing/2014/main" id="{B3698A55-A3CE-47A1-B698-FD70F86C56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88843" y="6031672"/>
            <a:ext cx="583623" cy="58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1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6" y="5725695"/>
            <a:ext cx="5408589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Actividades por Objetivo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9504406-1DF9-4780-B741-2B5B64E0B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3B071BF1-AB09-42C8-A646-845DF0C657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ED5C717-98AF-49C9-ACFA-BAA7844612D4}"/>
              </a:ext>
            </a:extLst>
          </p:cNvPr>
          <p:cNvSpPr txBox="1"/>
          <p:nvPr/>
        </p:nvSpPr>
        <p:spPr>
          <a:xfrm>
            <a:off x="2438403" y="1079501"/>
            <a:ext cx="8223747" cy="134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O.E.3: Desarrollar una herramienta que permita:</a:t>
            </a:r>
          </a:p>
          <a:p>
            <a:pPr marL="914400" lvl="1" indent="-457200" algn="just">
              <a:lnSpc>
                <a:spcPct val="115000"/>
              </a:lnSpc>
              <a:buClr>
                <a:srgbClr val="000000"/>
              </a:buClr>
              <a:buSzPts val="2400"/>
              <a:buFont typeface="Courier New" panose="02070309020205020404" pitchFamily="49" charset="0"/>
              <a:buChar char="o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O.E.3.2: Analizar los datos para una toma de decisión ágil y efectiva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8DE66CB-65F9-42AC-A41D-6169CAE1ABF6}"/>
              </a:ext>
            </a:extLst>
          </p:cNvPr>
          <p:cNvSpPr txBox="1"/>
          <p:nvPr/>
        </p:nvSpPr>
        <p:spPr>
          <a:xfrm>
            <a:off x="3396698" y="2497736"/>
            <a:ext cx="65797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O.E.3.1 Crear un modulo donde se pueda listar los casos según la importancia en la que debe ser atendida.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O.E.3.2 Priorizar y filtrar los casos según la atención que debe recibir (Inmediata – Rápida – Moderada – Oportuna )</a:t>
            </a:r>
            <a:endParaRPr lang="es-CO" sz="24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grpSp>
        <p:nvGrpSpPr>
          <p:cNvPr id="14" name="BotonMenu">
            <a:extLst>
              <a:ext uri="{FF2B5EF4-FFF2-40B4-BE49-F238E27FC236}">
                <a16:creationId xmlns:a16="http://schemas.microsoft.com/office/drawing/2014/main" id="{84FCE915-598F-463D-8B43-5137E5C4447E}"/>
              </a:ext>
            </a:extLst>
          </p:cNvPr>
          <p:cNvGrpSpPr/>
          <p:nvPr/>
        </p:nvGrpSpPr>
        <p:grpSpPr>
          <a:xfrm>
            <a:off x="11485108" y="6069772"/>
            <a:ext cx="541996" cy="493929"/>
            <a:chOff x="11485107" y="6252451"/>
            <a:chExt cx="541996" cy="493929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B9C2BD74-A6D1-4941-A62A-E1CDEB183EAD}"/>
                </a:ext>
              </a:extLst>
            </p:cNvPr>
            <p:cNvSpPr/>
            <p:nvPr/>
          </p:nvSpPr>
          <p:spPr>
            <a:xfrm>
              <a:off x="11485107" y="6252451"/>
              <a:ext cx="541996" cy="49392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20" name="Gráfico 19" descr="Icono de menú de hamburguesa con relleno sólido">
              <a:extLst>
                <a:ext uri="{FF2B5EF4-FFF2-40B4-BE49-F238E27FC236}">
                  <a16:creationId xmlns:a16="http://schemas.microsoft.com/office/drawing/2014/main" id="{A4428463-7A73-4796-93D7-0F1BA8A34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530578" y="6267538"/>
              <a:ext cx="451053" cy="451053"/>
            </a:xfrm>
            <a:prstGeom prst="rect">
              <a:avLst/>
            </a:prstGeom>
          </p:spPr>
        </p:pic>
      </p:grpSp>
      <p:sp>
        <p:nvSpPr>
          <p:cNvPr id="21" name="OE4">
            <a:hlinkClick r:id="rId7" action="ppaction://hlinksldjump"/>
            <a:extLst>
              <a:ext uri="{FF2B5EF4-FFF2-40B4-BE49-F238E27FC236}">
                <a16:creationId xmlns:a16="http://schemas.microsoft.com/office/drawing/2014/main" id="{C9775194-8997-4E0C-B9EB-0496B6B1D30A}"/>
              </a:ext>
            </a:extLst>
          </p:cNvPr>
          <p:cNvSpPr/>
          <p:nvPr/>
        </p:nvSpPr>
        <p:spPr>
          <a:xfrm>
            <a:off x="10833101" y="54922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O.E.4</a:t>
            </a:r>
            <a:endParaRPr lang="es-CO" dirty="0"/>
          </a:p>
        </p:txBody>
      </p:sp>
      <p:sp>
        <p:nvSpPr>
          <p:cNvPr id="22" name="OE2">
            <a:hlinkClick r:id="rId8" action="ppaction://hlinksldjump"/>
            <a:extLst>
              <a:ext uri="{FF2B5EF4-FFF2-40B4-BE49-F238E27FC236}">
                <a16:creationId xmlns:a16="http://schemas.microsoft.com/office/drawing/2014/main" id="{3DEE329D-0F9A-491F-88C5-1BC444B9164E}"/>
              </a:ext>
            </a:extLst>
          </p:cNvPr>
          <p:cNvSpPr/>
          <p:nvPr/>
        </p:nvSpPr>
        <p:spPr>
          <a:xfrm>
            <a:off x="10833100" y="4440485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O.E.2</a:t>
            </a:r>
            <a:endParaRPr lang="es-CO" dirty="0"/>
          </a:p>
        </p:txBody>
      </p:sp>
      <p:sp>
        <p:nvSpPr>
          <p:cNvPr id="23" name="OE1">
            <a:hlinkClick r:id="rId9" action="ppaction://hlinksldjump"/>
            <a:extLst>
              <a:ext uri="{FF2B5EF4-FFF2-40B4-BE49-F238E27FC236}">
                <a16:creationId xmlns:a16="http://schemas.microsoft.com/office/drawing/2014/main" id="{7CC2386F-C190-4247-9B6D-CF664E4CFC93}"/>
              </a:ext>
            </a:extLst>
          </p:cNvPr>
          <p:cNvSpPr/>
          <p:nvPr/>
        </p:nvSpPr>
        <p:spPr>
          <a:xfrm>
            <a:off x="10833100" y="392169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O.E.1</a:t>
            </a:r>
            <a:endParaRPr lang="es-CO" dirty="0"/>
          </a:p>
        </p:txBody>
      </p:sp>
      <p:sp>
        <p:nvSpPr>
          <p:cNvPr id="24" name="Rectángulo 23">
            <a:hlinkClick r:id="rId10" action="ppaction://hlinksldjump"/>
            <a:extLst>
              <a:ext uri="{FF2B5EF4-FFF2-40B4-BE49-F238E27FC236}">
                <a16:creationId xmlns:a16="http://schemas.microsoft.com/office/drawing/2014/main" id="{87DF7024-F830-41FA-8FBD-DB9A68E7F405}"/>
              </a:ext>
            </a:extLst>
          </p:cNvPr>
          <p:cNvSpPr/>
          <p:nvPr/>
        </p:nvSpPr>
        <p:spPr>
          <a:xfrm>
            <a:off x="9582661" y="54308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O.E.3.2</a:t>
            </a:r>
            <a:endParaRPr lang="es-CO" dirty="0"/>
          </a:p>
        </p:txBody>
      </p:sp>
      <p:sp>
        <p:nvSpPr>
          <p:cNvPr id="25" name="Rectángulo 24">
            <a:hlinkClick r:id="rId11" action="ppaction://hlinksldjump"/>
            <a:extLst>
              <a:ext uri="{FF2B5EF4-FFF2-40B4-BE49-F238E27FC236}">
                <a16:creationId xmlns:a16="http://schemas.microsoft.com/office/drawing/2014/main" id="{C649A851-54C7-47E7-BED5-D22476ACE7F6}"/>
              </a:ext>
            </a:extLst>
          </p:cNvPr>
          <p:cNvSpPr/>
          <p:nvPr/>
        </p:nvSpPr>
        <p:spPr>
          <a:xfrm>
            <a:off x="9582661" y="5883243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O.E.3.3</a:t>
            </a:r>
            <a:endParaRPr lang="es-CO" dirty="0"/>
          </a:p>
        </p:txBody>
      </p:sp>
      <p:sp>
        <p:nvSpPr>
          <p:cNvPr id="26" name="Rectángulo 25">
            <a:hlinkClick r:id="rId12" action="ppaction://hlinksldjump"/>
            <a:extLst>
              <a:ext uri="{FF2B5EF4-FFF2-40B4-BE49-F238E27FC236}">
                <a16:creationId xmlns:a16="http://schemas.microsoft.com/office/drawing/2014/main" id="{9681485B-426A-40A3-923F-A10E4A523515}"/>
              </a:ext>
            </a:extLst>
          </p:cNvPr>
          <p:cNvSpPr/>
          <p:nvPr/>
        </p:nvSpPr>
        <p:spPr>
          <a:xfrm>
            <a:off x="9582660" y="633567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O.E.3.4</a:t>
            </a:r>
            <a:endParaRPr lang="es-CO" dirty="0"/>
          </a:p>
        </p:txBody>
      </p:sp>
      <p:sp>
        <p:nvSpPr>
          <p:cNvPr id="27" name="Rectángulo 26">
            <a:hlinkClick r:id="rId13" action="ppaction://hlinksldjump"/>
            <a:extLst>
              <a:ext uri="{FF2B5EF4-FFF2-40B4-BE49-F238E27FC236}">
                <a16:creationId xmlns:a16="http://schemas.microsoft.com/office/drawing/2014/main" id="{24138EFD-F2D0-4AF9-AB7F-8D4BEBF4CE0E}"/>
              </a:ext>
            </a:extLst>
          </p:cNvPr>
          <p:cNvSpPr/>
          <p:nvPr/>
        </p:nvSpPr>
        <p:spPr>
          <a:xfrm>
            <a:off x="9582660" y="496568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O.E.3.1</a:t>
            </a:r>
            <a:endParaRPr lang="es-CO" dirty="0"/>
          </a:p>
        </p:txBody>
      </p:sp>
      <p:grpSp>
        <p:nvGrpSpPr>
          <p:cNvPr id="28" name="OE3">
            <a:extLst>
              <a:ext uri="{FF2B5EF4-FFF2-40B4-BE49-F238E27FC236}">
                <a16:creationId xmlns:a16="http://schemas.microsoft.com/office/drawing/2014/main" id="{3FFBC323-C53F-4F3E-A1A3-0622FDAA1152}"/>
              </a:ext>
            </a:extLst>
          </p:cNvPr>
          <p:cNvGrpSpPr/>
          <p:nvPr/>
        </p:nvGrpSpPr>
        <p:grpSpPr>
          <a:xfrm>
            <a:off x="10815014" y="4965460"/>
            <a:ext cx="1212090" cy="438784"/>
            <a:chOff x="10815013" y="5198939"/>
            <a:chExt cx="1212090" cy="438784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A6511D86-9F44-4963-B6CD-812E720CCFA6}"/>
                </a:ext>
              </a:extLst>
            </p:cNvPr>
            <p:cNvSpPr/>
            <p:nvPr/>
          </p:nvSpPr>
          <p:spPr>
            <a:xfrm>
              <a:off x="10833100" y="5198939"/>
              <a:ext cx="1194003" cy="438784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O.E.3</a:t>
              </a:r>
              <a:endParaRPr lang="es-CO" dirty="0"/>
            </a:p>
          </p:txBody>
        </p:sp>
        <p:pic>
          <p:nvPicPr>
            <p:cNvPr id="30" name="Gráfico 29" descr="Signo de intercalación hacia la izquierda con relleno sólido">
              <a:extLst>
                <a:ext uri="{FF2B5EF4-FFF2-40B4-BE49-F238E27FC236}">
                  <a16:creationId xmlns:a16="http://schemas.microsoft.com/office/drawing/2014/main" id="{FAA4CB53-F730-4F32-BC13-CBC6CD87F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815013" y="5281611"/>
              <a:ext cx="309034" cy="309034"/>
            </a:xfrm>
            <a:prstGeom prst="rect">
              <a:avLst/>
            </a:prstGeom>
          </p:spPr>
        </p:pic>
      </p:grp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43CBE5C-EB28-42CE-BF59-343C176A406C}"/>
              </a:ext>
            </a:extLst>
          </p:cNvPr>
          <p:cNvSpPr/>
          <p:nvPr/>
        </p:nvSpPr>
        <p:spPr>
          <a:xfrm>
            <a:off x="10888843" y="6069772"/>
            <a:ext cx="541996" cy="4939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2" name="Gráfico 31" descr="Signo de intercalación hacia la derecha con relleno sólido">
            <a:hlinkClick r:id="rId16" action="ppaction://hlinksldjump"/>
            <a:extLst>
              <a:ext uri="{FF2B5EF4-FFF2-40B4-BE49-F238E27FC236}">
                <a16:creationId xmlns:a16="http://schemas.microsoft.com/office/drawing/2014/main" id="{442A5D97-20BB-4A60-92CA-36F7D95CC91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88843" y="6031672"/>
            <a:ext cx="583623" cy="58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91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6" y="5725695"/>
            <a:ext cx="5408589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Actividades por Objetivo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9504406-1DF9-4780-B741-2B5B64E0B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3B071BF1-AB09-42C8-A646-845DF0C657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ED5C717-98AF-49C9-ACFA-BAA7844612D4}"/>
              </a:ext>
            </a:extLst>
          </p:cNvPr>
          <p:cNvSpPr txBox="1"/>
          <p:nvPr/>
        </p:nvSpPr>
        <p:spPr>
          <a:xfrm>
            <a:off x="2438403" y="1421011"/>
            <a:ext cx="8223747" cy="916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O.E.3: Desarrollar una herramienta que permita:</a:t>
            </a:r>
          </a:p>
          <a:p>
            <a:pPr marL="914400" lvl="1" indent="-457200" algn="just">
              <a:lnSpc>
                <a:spcPct val="115000"/>
              </a:lnSpc>
              <a:buClr>
                <a:srgbClr val="000000"/>
              </a:buClr>
              <a:buSzPts val="2400"/>
              <a:buFont typeface="Courier New" panose="02070309020205020404" pitchFamily="49" charset="0"/>
              <a:buChar char="o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O.E.3.3: Visualizar informes para la auditoria de calidad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8DE66CB-65F9-42AC-A41D-6169CAE1ABF6}"/>
              </a:ext>
            </a:extLst>
          </p:cNvPr>
          <p:cNvSpPr txBox="1"/>
          <p:nvPr/>
        </p:nvSpPr>
        <p:spPr>
          <a:xfrm>
            <a:off x="3276521" y="2447870"/>
            <a:ext cx="73224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O.E.3.3.1 Crear un modulo para consultar reportes unitarios.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O.E.3.3.2 Crear un modulo para consultar reportes por día, mes, año.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O.E.3.3.3 Generar PDF de los reportes consultados.</a:t>
            </a:r>
            <a:endParaRPr lang="es-CO" sz="24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grpSp>
        <p:nvGrpSpPr>
          <p:cNvPr id="14" name="BotonMenu">
            <a:extLst>
              <a:ext uri="{FF2B5EF4-FFF2-40B4-BE49-F238E27FC236}">
                <a16:creationId xmlns:a16="http://schemas.microsoft.com/office/drawing/2014/main" id="{1B087D48-D671-460F-9414-6F3DFD662375}"/>
              </a:ext>
            </a:extLst>
          </p:cNvPr>
          <p:cNvGrpSpPr/>
          <p:nvPr/>
        </p:nvGrpSpPr>
        <p:grpSpPr>
          <a:xfrm>
            <a:off x="11485108" y="6069772"/>
            <a:ext cx="541996" cy="493929"/>
            <a:chOff x="11485107" y="6252451"/>
            <a:chExt cx="541996" cy="493929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01406049-F3F6-4F78-9178-1D3C57B7EDF3}"/>
                </a:ext>
              </a:extLst>
            </p:cNvPr>
            <p:cNvSpPr/>
            <p:nvPr/>
          </p:nvSpPr>
          <p:spPr>
            <a:xfrm>
              <a:off x="11485107" y="6252451"/>
              <a:ext cx="541996" cy="49392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20" name="Gráfico 19" descr="Icono de menú de hamburguesa con relleno sólido">
              <a:extLst>
                <a:ext uri="{FF2B5EF4-FFF2-40B4-BE49-F238E27FC236}">
                  <a16:creationId xmlns:a16="http://schemas.microsoft.com/office/drawing/2014/main" id="{2865A9C6-57D2-4246-B31D-8DB8A0F10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530578" y="6267538"/>
              <a:ext cx="451053" cy="451053"/>
            </a:xfrm>
            <a:prstGeom prst="rect">
              <a:avLst/>
            </a:prstGeom>
          </p:spPr>
        </p:pic>
      </p:grpSp>
      <p:sp>
        <p:nvSpPr>
          <p:cNvPr id="21" name="OE4">
            <a:hlinkClick r:id="rId7" action="ppaction://hlinksldjump"/>
            <a:extLst>
              <a:ext uri="{FF2B5EF4-FFF2-40B4-BE49-F238E27FC236}">
                <a16:creationId xmlns:a16="http://schemas.microsoft.com/office/drawing/2014/main" id="{D45A05C0-A245-45BA-BF3D-08F38AAB7BFE}"/>
              </a:ext>
            </a:extLst>
          </p:cNvPr>
          <p:cNvSpPr/>
          <p:nvPr/>
        </p:nvSpPr>
        <p:spPr>
          <a:xfrm>
            <a:off x="10833101" y="54922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O.E.4</a:t>
            </a:r>
            <a:endParaRPr lang="es-CO" dirty="0"/>
          </a:p>
        </p:txBody>
      </p:sp>
      <p:sp>
        <p:nvSpPr>
          <p:cNvPr id="22" name="OE2">
            <a:hlinkClick r:id="rId8" action="ppaction://hlinksldjump"/>
            <a:extLst>
              <a:ext uri="{FF2B5EF4-FFF2-40B4-BE49-F238E27FC236}">
                <a16:creationId xmlns:a16="http://schemas.microsoft.com/office/drawing/2014/main" id="{97E99BFD-D591-424B-9BB9-2B37EE0471ED}"/>
              </a:ext>
            </a:extLst>
          </p:cNvPr>
          <p:cNvSpPr/>
          <p:nvPr/>
        </p:nvSpPr>
        <p:spPr>
          <a:xfrm>
            <a:off x="10833100" y="4440485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O.E.2</a:t>
            </a:r>
            <a:endParaRPr lang="es-CO" dirty="0"/>
          </a:p>
        </p:txBody>
      </p:sp>
      <p:sp>
        <p:nvSpPr>
          <p:cNvPr id="23" name="OE1">
            <a:hlinkClick r:id="rId9" action="ppaction://hlinksldjump"/>
            <a:extLst>
              <a:ext uri="{FF2B5EF4-FFF2-40B4-BE49-F238E27FC236}">
                <a16:creationId xmlns:a16="http://schemas.microsoft.com/office/drawing/2014/main" id="{4D789CD6-AF4F-4934-B5EC-CFEECEAB5DB9}"/>
              </a:ext>
            </a:extLst>
          </p:cNvPr>
          <p:cNvSpPr/>
          <p:nvPr/>
        </p:nvSpPr>
        <p:spPr>
          <a:xfrm>
            <a:off x="10833100" y="392169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O.E.1</a:t>
            </a:r>
            <a:endParaRPr lang="es-CO" dirty="0"/>
          </a:p>
        </p:txBody>
      </p:sp>
      <p:sp>
        <p:nvSpPr>
          <p:cNvPr id="24" name="Rectángulo 23">
            <a:hlinkClick r:id="rId10" action="ppaction://hlinksldjump"/>
            <a:extLst>
              <a:ext uri="{FF2B5EF4-FFF2-40B4-BE49-F238E27FC236}">
                <a16:creationId xmlns:a16="http://schemas.microsoft.com/office/drawing/2014/main" id="{62577941-EAB3-4999-A902-BE1B13E1D526}"/>
              </a:ext>
            </a:extLst>
          </p:cNvPr>
          <p:cNvSpPr/>
          <p:nvPr/>
        </p:nvSpPr>
        <p:spPr>
          <a:xfrm>
            <a:off x="9582661" y="54308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O.E.3.2</a:t>
            </a:r>
            <a:endParaRPr lang="es-CO" dirty="0"/>
          </a:p>
        </p:txBody>
      </p:sp>
      <p:sp>
        <p:nvSpPr>
          <p:cNvPr id="25" name="Rectángulo 24">
            <a:hlinkClick r:id="rId11" action="ppaction://hlinksldjump"/>
            <a:extLst>
              <a:ext uri="{FF2B5EF4-FFF2-40B4-BE49-F238E27FC236}">
                <a16:creationId xmlns:a16="http://schemas.microsoft.com/office/drawing/2014/main" id="{D13A1E90-B6F7-46B5-A4B7-0F3E3E7F35D6}"/>
              </a:ext>
            </a:extLst>
          </p:cNvPr>
          <p:cNvSpPr/>
          <p:nvPr/>
        </p:nvSpPr>
        <p:spPr>
          <a:xfrm>
            <a:off x="9582661" y="5883243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O.E.3.3</a:t>
            </a:r>
            <a:endParaRPr lang="es-CO" dirty="0"/>
          </a:p>
        </p:txBody>
      </p:sp>
      <p:sp>
        <p:nvSpPr>
          <p:cNvPr id="26" name="Rectángulo 25">
            <a:hlinkClick r:id="rId12" action="ppaction://hlinksldjump"/>
            <a:extLst>
              <a:ext uri="{FF2B5EF4-FFF2-40B4-BE49-F238E27FC236}">
                <a16:creationId xmlns:a16="http://schemas.microsoft.com/office/drawing/2014/main" id="{D6F4B31A-7077-4D0F-9234-BA5925375584}"/>
              </a:ext>
            </a:extLst>
          </p:cNvPr>
          <p:cNvSpPr/>
          <p:nvPr/>
        </p:nvSpPr>
        <p:spPr>
          <a:xfrm>
            <a:off x="9582660" y="633567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O.E.3.4</a:t>
            </a:r>
            <a:endParaRPr lang="es-CO" dirty="0"/>
          </a:p>
        </p:txBody>
      </p:sp>
      <p:sp>
        <p:nvSpPr>
          <p:cNvPr id="27" name="Rectángulo 26">
            <a:hlinkClick r:id="rId13" action="ppaction://hlinksldjump"/>
            <a:extLst>
              <a:ext uri="{FF2B5EF4-FFF2-40B4-BE49-F238E27FC236}">
                <a16:creationId xmlns:a16="http://schemas.microsoft.com/office/drawing/2014/main" id="{14D643FA-CF09-402E-A78C-A674EFE82454}"/>
              </a:ext>
            </a:extLst>
          </p:cNvPr>
          <p:cNvSpPr/>
          <p:nvPr/>
        </p:nvSpPr>
        <p:spPr>
          <a:xfrm>
            <a:off x="9582660" y="496568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O.E.3.1</a:t>
            </a:r>
            <a:endParaRPr lang="es-CO" dirty="0"/>
          </a:p>
        </p:txBody>
      </p:sp>
      <p:grpSp>
        <p:nvGrpSpPr>
          <p:cNvPr id="28" name="OE3">
            <a:extLst>
              <a:ext uri="{FF2B5EF4-FFF2-40B4-BE49-F238E27FC236}">
                <a16:creationId xmlns:a16="http://schemas.microsoft.com/office/drawing/2014/main" id="{E2509D40-C696-417B-84E8-997E2B3DB9ED}"/>
              </a:ext>
            </a:extLst>
          </p:cNvPr>
          <p:cNvGrpSpPr/>
          <p:nvPr/>
        </p:nvGrpSpPr>
        <p:grpSpPr>
          <a:xfrm>
            <a:off x="10815014" y="4965460"/>
            <a:ext cx="1212090" cy="438784"/>
            <a:chOff x="10815013" y="5198939"/>
            <a:chExt cx="1212090" cy="438784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CE18B021-9D88-4E0D-B24E-4DA7EBD15841}"/>
                </a:ext>
              </a:extLst>
            </p:cNvPr>
            <p:cNvSpPr/>
            <p:nvPr/>
          </p:nvSpPr>
          <p:spPr>
            <a:xfrm>
              <a:off x="10833100" y="5198939"/>
              <a:ext cx="1194003" cy="438784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O.E.3</a:t>
              </a:r>
              <a:endParaRPr lang="es-CO" dirty="0"/>
            </a:p>
          </p:txBody>
        </p:sp>
        <p:pic>
          <p:nvPicPr>
            <p:cNvPr id="30" name="Gráfico 29" descr="Signo de intercalación hacia la izquierda con relleno sólido">
              <a:extLst>
                <a:ext uri="{FF2B5EF4-FFF2-40B4-BE49-F238E27FC236}">
                  <a16:creationId xmlns:a16="http://schemas.microsoft.com/office/drawing/2014/main" id="{46CD647D-7D1E-43D5-A4AA-128DA7C77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815013" y="5281611"/>
              <a:ext cx="309034" cy="309034"/>
            </a:xfrm>
            <a:prstGeom prst="rect">
              <a:avLst/>
            </a:prstGeom>
          </p:spPr>
        </p:pic>
      </p:grp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43B5217-BED1-427D-B7EB-04D095B82D96}"/>
              </a:ext>
            </a:extLst>
          </p:cNvPr>
          <p:cNvSpPr/>
          <p:nvPr/>
        </p:nvSpPr>
        <p:spPr>
          <a:xfrm>
            <a:off x="10888843" y="6069772"/>
            <a:ext cx="541996" cy="4939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2" name="Gráfico 31" descr="Signo de intercalación hacia la derecha con relleno sólido">
            <a:hlinkClick r:id="rId16" action="ppaction://hlinksldjump"/>
            <a:extLst>
              <a:ext uri="{FF2B5EF4-FFF2-40B4-BE49-F238E27FC236}">
                <a16:creationId xmlns:a16="http://schemas.microsoft.com/office/drawing/2014/main" id="{7EE8AD3A-DCDA-4F8D-A94C-DD0320A7699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88843" y="6031672"/>
            <a:ext cx="583623" cy="58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1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6" y="5725695"/>
            <a:ext cx="5408589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Actividades por Objetivo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9504406-1DF9-4780-B741-2B5B64E0B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3B071BF1-AB09-42C8-A646-845DF0C657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ED5C717-98AF-49C9-ACFA-BAA7844612D4}"/>
              </a:ext>
            </a:extLst>
          </p:cNvPr>
          <p:cNvSpPr txBox="1"/>
          <p:nvPr/>
        </p:nvSpPr>
        <p:spPr>
          <a:xfrm>
            <a:off x="2382660" y="1605080"/>
            <a:ext cx="8223747" cy="916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O.E.3: Desarrollar una herramienta que permita:</a:t>
            </a:r>
          </a:p>
          <a:p>
            <a:pPr marL="914400" lvl="1" indent="-457200" algn="just">
              <a:lnSpc>
                <a:spcPct val="115000"/>
              </a:lnSpc>
              <a:buClr>
                <a:srgbClr val="000000"/>
              </a:buClr>
              <a:buSzPts val="2400"/>
              <a:buFont typeface="Courier New" panose="02070309020205020404" pitchFamily="49" charset="0"/>
              <a:buChar char="o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O.E.3.4: Generar informe de reducción de accidentalidad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8DE66CB-65F9-42AC-A41D-6169CAE1ABF6}"/>
              </a:ext>
            </a:extLst>
          </p:cNvPr>
          <p:cNvSpPr txBox="1"/>
          <p:nvPr/>
        </p:nvSpPr>
        <p:spPr>
          <a:xfrm>
            <a:off x="3284518" y="2644170"/>
            <a:ext cx="74921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O.E.3.4.1 Generar un informe que muestre una comparativa de casos entre dos meses diferentes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O.E.3.4.2 Generar un informe que muestre una comparativa de casos entre dos años diferentes</a:t>
            </a:r>
            <a:endParaRPr lang="es-CO" sz="24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grpSp>
        <p:nvGrpSpPr>
          <p:cNvPr id="14" name="BotonMenu">
            <a:extLst>
              <a:ext uri="{FF2B5EF4-FFF2-40B4-BE49-F238E27FC236}">
                <a16:creationId xmlns:a16="http://schemas.microsoft.com/office/drawing/2014/main" id="{BB69565C-9595-4C3A-A2EB-C1D6F0AC4603}"/>
              </a:ext>
            </a:extLst>
          </p:cNvPr>
          <p:cNvGrpSpPr/>
          <p:nvPr/>
        </p:nvGrpSpPr>
        <p:grpSpPr>
          <a:xfrm>
            <a:off x="11485108" y="6069772"/>
            <a:ext cx="541996" cy="493929"/>
            <a:chOff x="11485107" y="6252451"/>
            <a:chExt cx="541996" cy="493929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258C3A3A-1D00-452E-8937-7A185C46A7EF}"/>
                </a:ext>
              </a:extLst>
            </p:cNvPr>
            <p:cNvSpPr/>
            <p:nvPr/>
          </p:nvSpPr>
          <p:spPr>
            <a:xfrm>
              <a:off x="11485107" y="6252451"/>
              <a:ext cx="541996" cy="49392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20" name="Gráfico 19" descr="Icono de menú de hamburguesa con relleno sólido">
              <a:extLst>
                <a:ext uri="{FF2B5EF4-FFF2-40B4-BE49-F238E27FC236}">
                  <a16:creationId xmlns:a16="http://schemas.microsoft.com/office/drawing/2014/main" id="{B1AE511A-029B-424E-BCED-BB12ABF1D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530578" y="6267538"/>
              <a:ext cx="451053" cy="451053"/>
            </a:xfrm>
            <a:prstGeom prst="rect">
              <a:avLst/>
            </a:prstGeom>
          </p:spPr>
        </p:pic>
      </p:grpSp>
      <p:sp>
        <p:nvSpPr>
          <p:cNvPr id="21" name="OE4">
            <a:hlinkClick r:id="rId7" action="ppaction://hlinksldjump"/>
            <a:extLst>
              <a:ext uri="{FF2B5EF4-FFF2-40B4-BE49-F238E27FC236}">
                <a16:creationId xmlns:a16="http://schemas.microsoft.com/office/drawing/2014/main" id="{AE768076-45CA-46B1-A4E7-A0497A1A38BB}"/>
              </a:ext>
            </a:extLst>
          </p:cNvPr>
          <p:cNvSpPr/>
          <p:nvPr/>
        </p:nvSpPr>
        <p:spPr>
          <a:xfrm>
            <a:off x="10833101" y="54922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O.E.4</a:t>
            </a:r>
            <a:endParaRPr lang="es-CO" dirty="0"/>
          </a:p>
        </p:txBody>
      </p:sp>
      <p:sp>
        <p:nvSpPr>
          <p:cNvPr id="22" name="OE2">
            <a:hlinkClick r:id="rId8" action="ppaction://hlinksldjump"/>
            <a:extLst>
              <a:ext uri="{FF2B5EF4-FFF2-40B4-BE49-F238E27FC236}">
                <a16:creationId xmlns:a16="http://schemas.microsoft.com/office/drawing/2014/main" id="{71519836-C28C-4F75-904B-0E4C2E3FF7F2}"/>
              </a:ext>
            </a:extLst>
          </p:cNvPr>
          <p:cNvSpPr/>
          <p:nvPr/>
        </p:nvSpPr>
        <p:spPr>
          <a:xfrm>
            <a:off x="10833100" y="4440485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O.E.2</a:t>
            </a:r>
            <a:endParaRPr lang="es-CO" dirty="0"/>
          </a:p>
        </p:txBody>
      </p:sp>
      <p:sp>
        <p:nvSpPr>
          <p:cNvPr id="23" name="OE1">
            <a:hlinkClick r:id="rId9" action="ppaction://hlinksldjump"/>
            <a:extLst>
              <a:ext uri="{FF2B5EF4-FFF2-40B4-BE49-F238E27FC236}">
                <a16:creationId xmlns:a16="http://schemas.microsoft.com/office/drawing/2014/main" id="{76AC7157-75D3-4B55-B240-695FCFC6FB5E}"/>
              </a:ext>
            </a:extLst>
          </p:cNvPr>
          <p:cNvSpPr/>
          <p:nvPr/>
        </p:nvSpPr>
        <p:spPr>
          <a:xfrm>
            <a:off x="10833100" y="392169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O.E.1</a:t>
            </a:r>
            <a:endParaRPr lang="es-CO" dirty="0"/>
          </a:p>
        </p:txBody>
      </p:sp>
      <p:sp>
        <p:nvSpPr>
          <p:cNvPr id="24" name="Rectángulo 23">
            <a:hlinkClick r:id="rId10" action="ppaction://hlinksldjump"/>
            <a:extLst>
              <a:ext uri="{FF2B5EF4-FFF2-40B4-BE49-F238E27FC236}">
                <a16:creationId xmlns:a16="http://schemas.microsoft.com/office/drawing/2014/main" id="{BC44FE5A-4497-4945-8218-5BA8C0E70815}"/>
              </a:ext>
            </a:extLst>
          </p:cNvPr>
          <p:cNvSpPr/>
          <p:nvPr/>
        </p:nvSpPr>
        <p:spPr>
          <a:xfrm>
            <a:off x="9582661" y="54308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O.E.3.2</a:t>
            </a:r>
            <a:endParaRPr lang="es-CO" dirty="0"/>
          </a:p>
        </p:txBody>
      </p:sp>
      <p:sp>
        <p:nvSpPr>
          <p:cNvPr id="25" name="Rectángulo 24">
            <a:hlinkClick r:id="rId11" action="ppaction://hlinksldjump"/>
            <a:extLst>
              <a:ext uri="{FF2B5EF4-FFF2-40B4-BE49-F238E27FC236}">
                <a16:creationId xmlns:a16="http://schemas.microsoft.com/office/drawing/2014/main" id="{4D6411D8-25F0-4DC9-A032-F86FC4055E73}"/>
              </a:ext>
            </a:extLst>
          </p:cNvPr>
          <p:cNvSpPr/>
          <p:nvPr/>
        </p:nvSpPr>
        <p:spPr>
          <a:xfrm>
            <a:off x="9582661" y="5883243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O.E.3.3</a:t>
            </a:r>
            <a:endParaRPr lang="es-CO" dirty="0"/>
          </a:p>
        </p:txBody>
      </p:sp>
      <p:sp>
        <p:nvSpPr>
          <p:cNvPr id="26" name="Rectángulo 25">
            <a:hlinkClick r:id="rId12" action="ppaction://hlinksldjump"/>
            <a:extLst>
              <a:ext uri="{FF2B5EF4-FFF2-40B4-BE49-F238E27FC236}">
                <a16:creationId xmlns:a16="http://schemas.microsoft.com/office/drawing/2014/main" id="{BC5F468D-B363-4373-883B-4CF7A806D4BC}"/>
              </a:ext>
            </a:extLst>
          </p:cNvPr>
          <p:cNvSpPr/>
          <p:nvPr/>
        </p:nvSpPr>
        <p:spPr>
          <a:xfrm>
            <a:off x="9582660" y="633567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O.E.3.4</a:t>
            </a:r>
            <a:endParaRPr lang="es-CO" dirty="0"/>
          </a:p>
        </p:txBody>
      </p:sp>
      <p:sp>
        <p:nvSpPr>
          <p:cNvPr id="27" name="Rectángulo 26">
            <a:hlinkClick r:id="rId13" action="ppaction://hlinksldjump"/>
            <a:extLst>
              <a:ext uri="{FF2B5EF4-FFF2-40B4-BE49-F238E27FC236}">
                <a16:creationId xmlns:a16="http://schemas.microsoft.com/office/drawing/2014/main" id="{971422B3-8337-4043-89FB-7D28BBC90631}"/>
              </a:ext>
            </a:extLst>
          </p:cNvPr>
          <p:cNvSpPr/>
          <p:nvPr/>
        </p:nvSpPr>
        <p:spPr>
          <a:xfrm>
            <a:off x="9582660" y="496568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O.E.3.1</a:t>
            </a:r>
            <a:endParaRPr lang="es-CO" dirty="0"/>
          </a:p>
        </p:txBody>
      </p:sp>
      <p:grpSp>
        <p:nvGrpSpPr>
          <p:cNvPr id="28" name="OE3">
            <a:extLst>
              <a:ext uri="{FF2B5EF4-FFF2-40B4-BE49-F238E27FC236}">
                <a16:creationId xmlns:a16="http://schemas.microsoft.com/office/drawing/2014/main" id="{10A662CD-7CC1-4767-8D7A-E4F0725689E6}"/>
              </a:ext>
            </a:extLst>
          </p:cNvPr>
          <p:cNvGrpSpPr/>
          <p:nvPr/>
        </p:nvGrpSpPr>
        <p:grpSpPr>
          <a:xfrm>
            <a:off x="10815014" y="4965460"/>
            <a:ext cx="1212090" cy="438784"/>
            <a:chOff x="10815013" y="5198939"/>
            <a:chExt cx="1212090" cy="438784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5A78C9B8-3D55-4268-9F00-DAC3D8B85915}"/>
                </a:ext>
              </a:extLst>
            </p:cNvPr>
            <p:cNvSpPr/>
            <p:nvPr/>
          </p:nvSpPr>
          <p:spPr>
            <a:xfrm>
              <a:off x="10833100" y="5198939"/>
              <a:ext cx="1194003" cy="438784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O.E.3</a:t>
              </a:r>
              <a:endParaRPr lang="es-CO" dirty="0"/>
            </a:p>
          </p:txBody>
        </p:sp>
        <p:pic>
          <p:nvPicPr>
            <p:cNvPr id="30" name="Gráfico 29" descr="Signo de intercalación hacia la izquierda con relleno sólido">
              <a:extLst>
                <a:ext uri="{FF2B5EF4-FFF2-40B4-BE49-F238E27FC236}">
                  <a16:creationId xmlns:a16="http://schemas.microsoft.com/office/drawing/2014/main" id="{0F1980FB-182D-4AB7-9282-057B367D5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815013" y="5281611"/>
              <a:ext cx="309034" cy="309034"/>
            </a:xfrm>
            <a:prstGeom prst="rect">
              <a:avLst/>
            </a:prstGeom>
          </p:spPr>
        </p:pic>
      </p:grp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583E5DE-DDED-403F-AE75-C8E4B6007196}"/>
              </a:ext>
            </a:extLst>
          </p:cNvPr>
          <p:cNvSpPr/>
          <p:nvPr/>
        </p:nvSpPr>
        <p:spPr>
          <a:xfrm>
            <a:off x="10888843" y="6069772"/>
            <a:ext cx="541996" cy="4939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2" name="Gráfico 31" descr="Signo de intercalación hacia la derecha con relleno sólido">
            <a:hlinkClick r:id="rId16" action="ppaction://hlinksldjump"/>
            <a:extLst>
              <a:ext uri="{FF2B5EF4-FFF2-40B4-BE49-F238E27FC236}">
                <a16:creationId xmlns:a16="http://schemas.microsoft.com/office/drawing/2014/main" id="{AB7B0217-593E-4F6A-A583-F58E52B798F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88843" y="6031672"/>
            <a:ext cx="583623" cy="58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50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6" y="5725695"/>
            <a:ext cx="5408589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Actividades por Objetivo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9504406-1DF9-4780-B741-2B5B64E0B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3B071BF1-AB09-42C8-A646-845DF0C657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9860321-57D5-4DB1-973E-BAC552DF01D4}"/>
              </a:ext>
            </a:extLst>
          </p:cNvPr>
          <p:cNvSpPr txBox="1"/>
          <p:nvPr/>
        </p:nvSpPr>
        <p:spPr>
          <a:xfrm>
            <a:off x="3077832" y="1795302"/>
            <a:ext cx="6579704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O.E.4: Verificar y validar el sistema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CEA6F2F-AC27-4890-8F8E-9163C16DA7AB}"/>
              </a:ext>
            </a:extLst>
          </p:cNvPr>
          <p:cNvSpPr txBox="1"/>
          <p:nvPr/>
        </p:nvSpPr>
        <p:spPr>
          <a:xfrm>
            <a:off x="3497615" y="2475411"/>
            <a:ext cx="65797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O.E.4.1 Evaluar los errores encontrados en el sistema.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O.E.4.2 Realizar las correcciones necesarias.</a:t>
            </a:r>
            <a:endParaRPr lang="es-CO" sz="24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grpSp>
        <p:nvGrpSpPr>
          <p:cNvPr id="24" name="BotonMenu">
            <a:extLst>
              <a:ext uri="{FF2B5EF4-FFF2-40B4-BE49-F238E27FC236}">
                <a16:creationId xmlns:a16="http://schemas.microsoft.com/office/drawing/2014/main" id="{D93A168A-1FC4-43ED-B5FD-D26CA15FA9AE}"/>
              </a:ext>
            </a:extLst>
          </p:cNvPr>
          <p:cNvGrpSpPr/>
          <p:nvPr/>
        </p:nvGrpSpPr>
        <p:grpSpPr>
          <a:xfrm>
            <a:off x="11485108" y="6069772"/>
            <a:ext cx="541996" cy="493929"/>
            <a:chOff x="11485107" y="6252451"/>
            <a:chExt cx="541996" cy="493929"/>
          </a:xfrm>
        </p:grpSpPr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D42D39C5-1FF7-415C-B070-AA28396DC44A}"/>
                </a:ext>
              </a:extLst>
            </p:cNvPr>
            <p:cNvSpPr/>
            <p:nvPr/>
          </p:nvSpPr>
          <p:spPr>
            <a:xfrm>
              <a:off x="11485107" y="6252451"/>
              <a:ext cx="541996" cy="49392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26" name="Gráfico 25" descr="Icono de menú de hamburguesa con relleno sólido">
              <a:extLst>
                <a:ext uri="{FF2B5EF4-FFF2-40B4-BE49-F238E27FC236}">
                  <a16:creationId xmlns:a16="http://schemas.microsoft.com/office/drawing/2014/main" id="{431D13B3-E27E-497A-AF49-55F5A7232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530578" y="6267538"/>
              <a:ext cx="451053" cy="451053"/>
            </a:xfrm>
            <a:prstGeom prst="rect">
              <a:avLst/>
            </a:prstGeom>
          </p:spPr>
        </p:pic>
      </p:grpSp>
      <p:sp>
        <p:nvSpPr>
          <p:cNvPr id="27" name="OE4">
            <a:hlinkClick r:id="rId7" action="ppaction://hlinksldjump"/>
            <a:extLst>
              <a:ext uri="{FF2B5EF4-FFF2-40B4-BE49-F238E27FC236}">
                <a16:creationId xmlns:a16="http://schemas.microsoft.com/office/drawing/2014/main" id="{87682693-0F9A-4D74-BA21-42A9A5512F0F}"/>
              </a:ext>
            </a:extLst>
          </p:cNvPr>
          <p:cNvSpPr/>
          <p:nvPr/>
        </p:nvSpPr>
        <p:spPr>
          <a:xfrm>
            <a:off x="10833101" y="54922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O.E.4</a:t>
            </a:r>
            <a:endParaRPr lang="es-CO" dirty="0"/>
          </a:p>
        </p:txBody>
      </p:sp>
      <p:sp>
        <p:nvSpPr>
          <p:cNvPr id="28" name="OE2">
            <a:hlinkClick r:id="rId8" action="ppaction://hlinksldjump"/>
            <a:extLst>
              <a:ext uri="{FF2B5EF4-FFF2-40B4-BE49-F238E27FC236}">
                <a16:creationId xmlns:a16="http://schemas.microsoft.com/office/drawing/2014/main" id="{EABEC931-6D60-4F0C-BCAF-22225A34907A}"/>
              </a:ext>
            </a:extLst>
          </p:cNvPr>
          <p:cNvSpPr/>
          <p:nvPr/>
        </p:nvSpPr>
        <p:spPr>
          <a:xfrm>
            <a:off x="10833100" y="4440485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O.E.2</a:t>
            </a:r>
            <a:endParaRPr lang="es-CO" dirty="0"/>
          </a:p>
        </p:txBody>
      </p:sp>
      <p:sp>
        <p:nvSpPr>
          <p:cNvPr id="29" name="OE1">
            <a:hlinkClick r:id="rId9" action="ppaction://hlinksldjump"/>
            <a:extLst>
              <a:ext uri="{FF2B5EF4-FFF2-40B4-BE49-F238E27FC236}">
                <a16:creationId xmlns:a16="http://schemas.microsoft.com/office/drawing/2014/main" id="{69A1A73E-551E-4C83-ACEF-1287F76BD9BA}"/>
              </a:ext>
            </a:extLst>
          </p:cNvPr>
          <p:cNvSpPr/>
          <p:nvPr/>
        </p:nvSpPr>
        <p:spPr>
          <a:xfrm>
            <a:off x="10833100" y="392169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O.E.1</a:t>
            </a:r>
            <a:endParaRPr lang="es-CO" dirty="0"/>
          </a:p>
        </p:txBody>
      </p:sp>
      <p:sp>
        <p:nvSpPr>
          <p:cNvPr id="30" name="Rectángulo 29">
            <a:hlinkClick r:id="rId10" action="ppaction://hlinksldjump"/>
            <a:extLst>
              <a:ext uri="{FF2B5EF4-FFF2-40B4-BE49-F238E27FC236}">
                <a16:creationId xmlns:a16="http://schemas.microsoft.com/office/drawing/2014/main" id="{87156F7D-2E78-4E19-AFAA-3D26C96DB665}"/>
              </a:ext>
            </a:extLst>
          </p:cNvPr>
          <p:cNvSpPr/>
          <p:nvPr/>
        </p:nvSpPr>
        <p:spPr>
          <a:xfrm>
            <a:off x="9582661" y="5430816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O.E.3.2</a:t>
            </a:r>
            <a:endParaRPr lang="es-CO" dirty="0"/>
          </a:p>
        </p:txBody>
      </p:sp>
      <p:sp>
        <p:nvSpPr>
          <p:cNvPr id="31" name="Rectángulo 30">
            <a:hlinkClick r:id="rId11" action="ppaction://hlinksldjump"/>
            <a:extLst>
              <a:ext uri="{FF2B5EF4-FFF2-40B4-BE49-F238E27FC236}">
                <a16:creationId xmlns:a16="http://schemas.microsoft.com/office/drawing/2014/main" id="{07B72E9C-8BE2-4584-ADF1-16029EE97401}"/>
              </a:ext>
            </a:extLst>
          </p:cNvPr>
          <p:cNvSpPr/>
          <p:nvPr/>
        </p:nvSpPr>
        <p:spPr>
          <a:xfrm>
            <a:off x="9582661" y="5883243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O.E.3.3</a:t>
            </a:r>
            <a:endParaRPr lang="es-CO" dirty="0"/>
          </a:p>
        </p:txBody>
      </p:sp>
      <p:sp>
        <p:nvSpPr>
          <p:cNvPr id="32" name="Rectángulo 31">
            <a:hlinkClick r:id="rId12" action="ppaction://hlinksldjump"/>
            <a:extLst>
              <a:ext uri="{FF2B5EF4-FFF2-40B4-BE49-F238E27FC236}">
                <a16:creationId xmlns:a16="http://schemas.microsoft.com/office/drawing/2014/main" id="{1B2263BB-80E1-417F-871D-4C8243002E13}"/>
              </a:ext>
            </a:extLst>
          </p:cNvPr>
          <p:cNvSpPr/>
          <p:nvPr/>
        </p:nvSpPr>
        <p:spPr>
          <a:xfrm>
            <a:off x="9582660" y="633567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O.E.3.4</a:t>
            </a:r>
            <a:endParaRPr lang="es-CO" dirty="0"/>
          </a:p>
        </p:txBody>
      </p:sp>
      <p:sp>
        <p:nvSpPr>
          <p:cNvPr id="33" name="Rectángulo 32">
            <a:hlinkClick r:id="rId13" action="ppaction://hlinksldjump"/>
            <a:extLst>
              <a:ext uri="{FF2B5EF4-FFF2-40B4-BE49-F238E27FC236}">
                <a16:creationId xmlns:a16="http://schemas.microsoft.com/office/drawing/2014/main" id="{75453792-9023-444F-83F1-E00EC23259D3}"/>
              </a:ext>
            </a:extLst>
          </p:cNvPr>
          <p:cNvSpPr/>
          <p:nvPr/>
        </p:nvSpPr>
        <p:spPr>
          <a:xfrm>
            <a:off x="9582660" y="4965680"/>
            <a:ext cx="1194003" cy="438784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O.E.3.1</a:t>
            </a:r>
            <a:endParaRPr lang="es-CO" dirty="0"/>
          </a:p>
        </p:txBody>
      </p:sp>
      <p:grpSp>
        <p:nvGrpSpPr>
          <p:cNvPr id="34" name="OE3">
            <a:extLst>
              <a:ext uri="{FF2B5EF4-FFF2-40B4-BE49-F238E27FC236}">
                <a16:creationId xmlns:a16="http://schemas.microsoft.com/office/drawing/2014/main" id="{91C75809-6EAD-4303-9C71-E4AEEDDFE53C}"/>
              </a:ext>
            </a:extLst>
          </p:cNvPr>
          <p:cNvGrpSpPr/>
          <p:nvPr/>
        </p:nvGrpSpPr>
        <p:grpSpPr>
          <a:xfrm>
            <a:off x="10815014" y="4965460"/>
            <a:ext cx="1212090" cy="438784"/>
            <a:chOff x="10815013" y="5198939"/>
            <a:chExt cx="1212090" cy="438784"/>
          </a:xfrm>
        </p:grpSpPr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509FE35A-CCAB-4ED3-815F-2A27D1A5E625}"/>
                </a:ext>
              </a:extLst>
            </p:cNvPr>
            <p:cNvSpPr/>
            <p:nvPr/>
          </p:nvSpPr>
          <p:spPr>
            <a:xfrm>
              <a:off x="10833100" y="5198939"/>
              <a:ext cx="1194003" cy="438784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O.E.3</a:t>
              </a:r>
              <a:endParaRPr lang="es-CO" dirty="0"/>
            </a:p>
          </p:txBody>
        </p:sp>
        <p:pic>
          <p:nvPicPr>
            <p:cNvPr id="36" name="Gráfico 35" descr="Signo de intercalación hacia la izquierda con relleno sólido">
              <a:extLst>
                <a:ext uri="{FF2B5EF4-FFF2-40B4-BE49-F238E27FC236}">
                  <a16:creationId xmlns:a16="http://schemas.microsoft.com/office/drawing/2014/main" id="{54D86F02-DDA4-4F37-BCF3-D1E71A598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815013" y="5281611"/>
              <a:ext cx="309034" cy="309034"/>
            </a:xfrm>
            <a:prstGeom prst="rect">
              <a:avLst/>
            </a:prstGeom>
          </p:spPr>
        </p:pic>
      </p:grpSp>
      <p:sp>
        <p:nvSpPr>
          <p:cNvPr id="37" name="Rectángulo 36">
            <a:extLst>
              <a:ext uri="{FF2B5EF4-FFF2-40B4-BE49-F238E27FC236}">
                <a16:creationId xmlns:a16="http://schemas.microsoft.com/office/drawing/2014/main" id="{33EFF059-001E-48C5-A804-24096DA1B470}"/>
              </a:ext>
            </a:extLst>
          </p:cNvPr>
          <p:cNvSpPr/>
          <p:nvPr/>
        </p:nvSpPr>
        <p:spPr>
          <a:xfrm>
            <a:off x="10888843" y="6069772"/>
            <a:ext cx="541996" cy="4939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8" name="Gráfico 37" descr="Signo de intercalación hacia la derecha con relleno sólido">
            <a:hlinkClick r:id="rId16" action="ppaction://hlinksldjump"/>
            <a:extLst>
              <a:ext uri="{FF2B5EF4-FFF2-40B4-BE49-F238E27FC236}">
                <a16:creationId xmlns:a16="http://schemas.microsoft.com/office/drawing/2014/main" id="{08D3AB7B-8362-4CA9-A7B0-3224E63608E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88843" y="6031672"/>
            <a:ext cx="583623" cy="58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5" name="Google Shape;6873;p75">
            <a:extLst>
              <a:ext uri="{FF2B5EF4-FFF2-40B4-BE49-F238E27FC236}">
                <a16:creationId xmlns:a16="http://schemas.microsoft.com/office/drawing/2014/main" id="{C61F57CD-4132-4567-A308-2AF7A4FF9DC9}"/>
              </a:ext>
            </a:extLst>
          </p:cNvPr>
          <p:cNvGrpSpPr/>
          <p:nvPr/>
        </p:nvGrpSpPr>
        <p:grpSpPr>
          <a:xfrm>
            <a:off x="164897" y="5725695"/>
            <a:ext cx="6302164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" name="Google Shape;6874;p75">
              <a:extLst>
                <a:ext uri="{FF2B5EF4-FFF2-40B4-BE49-F238E27FC236}">
                  <a16:creationId xmlns:a16="http://schemas.microsoft.com/office/drawing/2014/main" id="{907A7406-47D2-4309-B384-667DD3591419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Google Shape;6875;p75">
              <a:extLst>
                <a:ext uri="{FF2B5EF4-FFF2-40B4-BE49-F238E27FC236}">
                  <a16:creationId xmlns:a16="http://schemas.microsoft.com/office/drawing/2014/main" id="{EECC64EB-4084-4810-8C24-A4D70796685F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Google Shape;6876;p75">
              <a:extLst>
                <a:ext uri="{FF2B5EF4-FFF2-40B4-BE49-F238E27FC236}">
                  <a16:creationId xmlns:a16="http://schemas.microsoft.com/office/drawing/2014/main" id="{1BCA65D5-1DCE-454C-8CD2-0A4D7A907CC1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Herramientas y tecnologías</a:t>
              </a:r>
              <a:r>
                <a:rPr lang="es-ES" sz="2400" dirty="0"/>
                <a:t> </a:t>
              </a:r>
              <a:endParaRPr sz="2400" dirty="0"/>
            </a:p>
          </p:txBody>
        </p:sp>
      </p:grpSp>
      <p:pic>
        <p:nvPicPr>
          <p:cNvPr id="2049" name="Imagen 2048">
            <a:extLst>
              <a:ext uri="{FF2B5EF4-FFF2-40B4-BE49-F238E27FC236}">
                <a16:creationId xmlns:a16="http://schemas.microsoft.com/office/drawing/2014/main" id="{A7779FD0-95FE-4E7F-9905-61FCE54CB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722" y="273411"/>
            <a:ext cx="9170504" cy="515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16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6" y="5725695"/>
            <a:ext cx="5829503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Restricciones y Estándares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44C7E02-9EEA-4D97-BC57-DD910D80C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64C84C97-8D49-4CA1-8C20-FF8733BE74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D87C0E5-18FA-453A-996C-0EF3857A7D2B}"/>
              </a:ext>
            </a:extLst>
          </p:cNvPr>
          <p:cNvSpPr txBox="1"/>
          <p:nvPr/>
        </p:nvSpPr>
        <p:spPr>
          <a:xfrm>
            <a:off x="1943522" y="1893392"/>
            <a:ext cx="8718628" cy="304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Cumplimiento</a:t>
            </a:r>
            <a:r>
              <a:rPr lang="es-E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con el decreto 1072 de 2015 sobre el reglamento del sector trabajo</a:t>
            </a:r>
          </a:p>
          <a:p>
            <a:pPr marL="914400" indent="-4572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Cumplimiento con la Ley Estatutaria 1581 de 2012 sobre el tratamiento y protección de datos personales que sean almacenados en la base de datos.</a:t>
            </a:r>
            <a:r>
              <a:rPr lang="en-U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 </a:t>
            </a:r>
          </a:p>
          <a:p>
            <a:pPr marL="914400" indent="-4572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Cumplimiento</a:t>
            </a:r>
            <a:r>
              <a:rPr lang="en-U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 de los </a:t>
            </a:r>
            <a:r>
              <a:rPr lang="en-US" sz="2400" dirty="0" err="1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estandares</a:t>
            </a:r>
            <a:r>
              <a:rPr lang="en-U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calidad</a:t>
            </a:r>
            <a:r>
              <a:rPr lang="en-U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según</a:t>
            </a:r>
            <a:r>
              <a:rPr lang="en-U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 la normative ISO 9001</a:t>
            </a:r>
          </a:p>
        </p:txBody>
      </p:sp>
    </p:spTree>
    <p:extLst>
      <p:ext uri="{BB962C8B-B14F-4D97-AF65-F5344CB8AC3E}">
        <p14:creationId xmlns:p14="http://schemas.microsoft.com/office/powerpoint/2010/main" val="2799623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jecucion">
            <a:extLst>
              <a:ext uri="{FF2B5EF4-FFF2-40B4-BE49-F238E27FC236}">
                <a16:creationId xmlns:a16="http://schemas.microsoft.com/office/drawing/2014/main" id="{64DCDF17-6DFC-412E-8B6A-3BBB9917BA28}"/>
              </a:ext>
            </a:extLst>
          </p:cNvPr>
          <p:cNvSpPr/>
          <p:nvPr/>
        </p:nvSpPr>
        <p:spPr>
          <a:xfrm>
            <a:off x="7613644" y="1990469"/>
            <a:ext cx="2373957" cy="680698"/>
          </a:xfrm>
          <a:prstGeom prst="homePlate">
            <a:avLst/>
          </a:prstGeom>
          <a:solidFill>
            <a:srgbClr val="FE86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EJECUCIÓN</a:t>
            </a:r>
            <a:endParaRPr lang="es-CO" dirty="0"/>
          </a:p>
        </p:txBody>
      </p:sp>
      <p:sp>
        <p:nvSpPr>
          <p:cNvPr id="24" name="Flecha: pentágono 23">
            <a:extLst>
              <a:ext uri="{FF2B5EF4-FFF2-40B4-BE49-F238E27FC236}">
                <a16:creationId xmlns:a16="http://schemas.microsoft.com/office/drawing/2014/main" id="{F776386F-93B6-4582-8407-7CAECB9C1A66}"/>
              </a:ext>
            </a:extLst>
          </p:cNvPr>
          <p:cNvSpPr/>
          <p:nvPr/>
        </p:nvSpPr>
        <p:spPr>
          <a:xfrm>
            <a:off x="6623958" y="1990469"/>
            <a:ext cx="1305938" cy="680698"/>
          </a:xfrm>
          <a:prstGeom prst="homePlat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7" y="5725695"/>
            <a:ext cx="3478189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Metodología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B08CFDB2-4C15-4A89-9A9F-3762671E9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4EE65226-81ED-482C-B003-206C12AC54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planeacion">
            <a:extLst>
              <a:ext uri="{FF2B5EF4-FFF2-40B4-BE49-F238E27FC236}">
                <a16:creationId xmlns:a16="http://schemas.microsoft.com/office/drawing/2014/main" id="{6E71E55A-76A3-4D99-AE0D-6D79C98DD005}"/>
              </a:ext>
            </a:extLst>
          </p:cNvPr>
          <p:cNvSpPr/>
          <p:nvPr/>
        </p:nvSpPr>
        <p:spPr>
          <a:xfrm>
            <a:off x="5365006" y="1990469"/>
            <a:ext cx="2373957" cy="680698"/>
          </a:xfrm>
          <a:prstGeom prst="homePlat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PLANEACIÓN</a:t>
            </a:r>
            <a:endParaRPr lang="es-CO" dirty="0"/>
          </a:p>
        </p:txBody>
      </p:sp>
      <p:sp>
        <p:nvSpPr>
          <p:cNvPr id="20" name="Flecha: pentágono 19">
            <a:extLst>
              <a:ext uri="{FF2B5EF4-FFF2-40B4-BE49-F238E27FC236}">
                <a16:creationId xmlns:a16="http://schemas.microsoft.com/office/drawing/2014/main" id="{56C834B9-F6B2-4E4E-BA38-BC3874E0C45C}"/>
              </a:ext>
            </a:extLst>
          </p:cNvPr>
          <p:cNvSpPr/>
          <p:nvPr/>
        </p:nvSpPr>
        <p:spPr>
          <a:xfrm>
            <a:off x="3321109" y="1990469"/>
            <a:ext cx="2360149" cy="680698"/>
          </a:xfrm>
          <a:prstGeom prst="homePlat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inicio">
            <a:extLst>
              <a:ext uri="{FF2B5EF4-FFF2-40B4-BE49-F238E27FC236}">
                <a16:creationId xmlns:a16="http://schemas.microsoft.com/office/drawing/2014/main" id="{998FE055-D2A6-444A-9BC4-1B3AADED81DC}"/>
              </a:ext>
            </a:extLst>
          </p:cNvPr>
          <p:cNvSpPr/>
          <p:nvPr/>
        </p:nvSpPr>
        <p:spPr>
          <a:xfrm>
            <a:off x="3138053" y="1990469"/>
            <a:ext cx="2360149" cy="680698"/>
          </a:xfrm>
          <a:prstGeom prst="homePlat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INICIO</a:t>
            </a:r>
            <a:endParaRPr lang="es-CO" dirty="0"/>
          </a:p>
        </p:txBody>
      </p:sp>
      <p:sp>
        <p:nvSpPr>
          <p:cNvPr id="25" name="cierre">
            <a:extLst>
              <a:ext uri="{FF2B5EF4-FFF2-40B4-BE49-F238E27FC236}">
                <a16:creationId xmlns:a16="http://schemas.microsoft.com/office/drawing/2014/main" id="{84AFA588-554B-4168-895D-A79C6ED0DDCA}"/>
              </a:ext>
            </a:extLst>
          </p:cNvPr>
          <p:cNvSpPr/>
          <p:nvPr/>
        </p:nvSpPr>
        <p:spPr>
          <a:xfrm>
            <a:off x="6561825" y="2834450"/>
            <a:ext cx="3094424" cy="680698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CIERRE DE PROYECTO</a:t>
            </a:r>
            <a:endParaRPr lang="es-CO" dirty="0"/>
          </a:p>
        </p:txBody>
      </p:sp>
      <p:sp>
        <p:nvSpPr>
          <p:cNvPr id="26" name="Flecha: pentágono 25">
            <a:extLst>
              <a:ext uri="{FF2B5EF4-FFF2-40B4-BE49-F238E27FC236}">
                <a16:creationId xmlns:a16="http://schemas.microsoft.com/office/drawing/2014/main" id="{7567ED14-F92D-4516-81AC-CD10B9C561EB}"/>
              </a:ext>
            </a:extLst>
          </p:cNvPr>
          <p:cNvSpPr/>
          <p:nvPr/>
        </p:nvSpPr>
        <p:spPr>
          <a:xfrm>
            <a:off x="5572139" y="2834450"/>
            <a:ext cx="1305938" cy="680698"/>
          </a:xfrm>
          <a:prstGeom prst="homePlat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seguimiento">
            <a:extLst>
              <a:ext uri="{FF2B5EF4-FFF2-40B4-BE49-F238E27FC236}">
                <a16:creationId xmlns:a16="http://schemas.microsoft.com/office/drawing/2014/main" id="{A387E87D-B89C-47E0-9C88-A3DBD3076C10}"/>
              </a:ext>
            </a:extLst>
          </p:cNvPr>
          <p:cNvSpPr/>
          <p:nvPr/>
        </p:nvSpPr>
        <p:spPr>
          <a:xfrm>
            <a:off x="3607088" y="2834450"/>
            <a:ext cx="3116574" cy="680698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     SEGUIMIENTO Y CONTROL</a:t>
            </a:r>
            <a:endParaRPr lang="es-CO" dirty="0"/>
          </a:p>
        </p:txBody>
      </p:sp>
      <p:sp>
        <p:nvSpPr>
          <p:cNvPr id="28" name="Flecha: pentágono 27">
            <a:extLst>
              <a:ext uri="{FF2B5EF4-FFF2-40B4-BE49-F238E27FC236}">
                <a16:creationId xmlns:a16="http://schemas.microsoft.com/office/drawing/2014/main" id="{EFDDCDB8-DE6D-4012-9B29-ECA515C9D7B9}"/>
              </a:ext>
            </a:extLst>
          </p:cNvPr>
          <p:cNvSpPr/>
          <p:nvPr/>
        </p:nvSpPr>
        <p:spPr>
          <a:xfrm>
            <a:off x="2688774" y="2834450"/>
            <a:ext cx="1234566" cy="680698"/>
          </a:xfrm>
          <a:prstGeom prst="homePlat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i">
            <a:extLst>
              <a:ext uri="{FF2B5EF4-FFF2-40B4-BE49-F238E27FC236}">
                <a16:creationId xmlns:a16="http://schemas.microsoft.com/office/drawing/2014/main" id="{754FB0E2-2E65-4A47-882C-1EC8C39E3123}"/>
              </a:ext>
            </a:extLst>
          </p:cNvPr>
          <p:cNvSpPr txBox="1"/>
          <p:nvPr/>
        </p:nvSpPr>
        <p:spPr>
          <a:xfrm>
            <a:off x="5111331" y="4433464"/>
            <a:ext cx="6136408" cy="111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cs typeface="Roboto"/>
                <a:sym typeface="Roboto"/>
              </a:rPr>
              <a:t>Investigación.</a:t>
            </a:r>
            <a:endParaRPr sz="20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cs typeface="Roboto"/>
                <a:sym typeface="Roboto"/>
              </a:rPr>
              <a:t>Análisis del alcance del proyecto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cs typeface="Roboto"/>
                <a:sym typeface="Roboto"/>
              </a:rPr>
              <a:t>Análisis de riesgos de ejecución del proyecto</a:t>
            </a:r>
            <a:endParaRPr sz="20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p">
            <a:extLst>
              <a:ext uri="{FF2B5EF4-FFF2-40B4-BE49-F238E27FC236}">
                <a16:creationId xmlns:a16="http://schemas.microsoft.com/office/drawing/2014/main" id="{FBE40AFA-AFA7-4CBF-B63C-3B24858B6CAE}"/>
              </a:ext>
            </a:extLst>
          </p:cNvPr>
          <p:cNvSpPr txBox="1"/>
          <p:nvPr/>
        </p:nvSpPr>
        <p:spPr>
          <a:xfrm>
            <a:off x="5102221" y="4433464"/>
            <a:ext cx="6491250" cy="111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sym typeface="Roboto"/>
              </a:rPr>
              <a:t>Realizar</a:t>
            </a:r>
            <a:r>
              <a:rPr lang="es-CO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CO" sz="2000" dirty="0">
                <a:latin typeface="Roboto"/>
                <a:ea typeface="Roboto"/>
                <a:sym typeface="Roboto"/>
              </a:rPr>
              <a:t>estimación de esfuerzo, costos y recursos necesarios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sym typeface="Roboto"/>
              </a:rPr>
              <a:t>Definir el plan del proyecto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sym typeface="Roboto"/>
              </a:rPr>
              <a:t>Diseño de prototipos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e">
            <a:extLst>
              <a:ext uri="{FF2B5EF4-FFF2-40B4-BE49-F238E27FC236}">
                <a16:creationId xmlns:a16="http://schemas.microsoft.com/office/drawing/2014/main" id="{F34373A8-4677-46D5-AC18-A4BE578C46DA}"/>
              </a:ext>
            </a:extLst>
          </p:cNvPr>
          <p:cNvSpPr txBox="1"/>
          <p:nvPr/>
        </p:nvSpPr>
        <p:spPr>
          <a:xfrm>
            <a:off x="5102221" y="4446403"/>
            <a:ext cx="6979364" cy="111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cs typeface="Roboto"/>
                <a:sym typeface="Roboto"/>
              </a:rPr>
              <a:t>Establecimiento del entorno del trabajo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cs typeface="Roboto"/>
                <a:sym typeface="Roboto"/>
              </a:rPr>
              <a:t>Asignación de tareas planificadas a los recursos disponibles 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cs typeface="Roboto"/>
                <a:sym typeface="Roboto"/>
              </a:rPr>
              <a:t>Ejecución de las tareas planificadas</a:t>
            </a:r>
          </a:p>
        </p:txBody>
      </p:sp>
      <p:sp>
        <p:nvSpPr>
          <p:cNvPr id="32" name="s">
            <a:extLst>
              <a:ext uri="{FF2B5EF4-FFF2-40B4-BE49-F238E27FC236}">
                <a16:creationId xmlns:a16="http://schemas.microsoft.com/office/drawing/2014/main" id="{CAC89F9A-A46D-4481-91B7-F16955A0D41F}"/>
              </a:ext>
            </a:extLst>
          </p:cNvPr>
          <p:cNvSpPr txBox="1"/>
          <p:nvPr/>
        </p:nvSpPr>
        <p:spPr>
          <a:xfrm>
            <a:off x="5111331" y="4433956"/>
            <a:ext cx="6722284" cy="111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cs typeface="Roboto"/>
                <a:sym typeface="Roboto"/>
              </a:rPr>
              <a:t>Seguimiento de tareas planificadas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cs typeface="Roboto"/>
                <a:sym typeface="Roboto"/>
              </a:rPr>
              <a:t>Gestión de entregables (incluido control de calidad)</a:t>
            </a:r>
          </a:p>
        </p:txBody>
      </p:sp>
      <p:sp>
        <p:nvSpPr>
          <p:cNvPr id="33" name="c">
            <a:extLst>
              <a:ext uri="{FF2B5EF4-FFF2-40B4-BE49-F238E27FC236}">
                <a16:creationId xmlns:a16="http://schemas.microsoft.com/office/drawing/2014/main" id="{97260B3A-86B2-4B52-9C7B-22DE8906ECD8}"/>
              </a:ext>
            </a:extLst>
          </p:cNvPr>
          <p:cNvSpPr txBox="1"/>
          <p:nvPr/>
        </p:nvSpPr>
        <p:spPr>
          <a:xfrm>
            <a:off x="5111331" y="4433464"/>
            <a:ext cx="6491250" cy="111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cs typeface="Roboto"/>
                <a:sym typeface="Roboto"/>
              </a:rPr>
              <a:t>Cierre formal del proyecto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cs typeface="Roboto"/>
                <a:sym typeface="Roboto"/>
              </a:rPr>
              <a:t>Realizar  back-up del proyecto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s-CO" sz="2000" dirty="0">
                <a:latin typeface="Roboto"/>
                <a:ea typeface="Roboto"/>
                <a:cs typeface="Roboto"/>
                <a:sym typeface="Roboto"/>
              </a:rPr>
              <a:t>Sustentar proyecto</a:t>
            </a:r>
          </a:p>
        </p:txBody>
      </p:sp>
    </p:spTree>
    <p:extLst>
      <p:ext uri="{BB962C8B-B14F-4D97-AF65-F5344CB8AC3E}">
        <p14:creationId xmlns:p14="http://schemas.microsoft.com/office/powerpoint/2010/main" val="68754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2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25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5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6" y="5725695"/>
            <a:ext cx="5931103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Metodología de Desarrollo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FE102CEC-79DA-4614-B56A-527F76E12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2D8C3D8B-AB80-456B-88B9-B17CC59580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747D504-4D12-425E-A812-89A7453C58CC}"/>
              </a:ext>
            </a:extLst>
          </p:cNvPr>
          <p:cNvSpPr txBox="1"/>
          <p:nvPr/>
        </p:nvSpPr>
        <p:spPr>
          <a:xfrm>
            <a:off x="2674542" y="2301534"/>
            <a:ext cx="81262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Se escoge trabajar bajo la metodología SCRUM debido a que:</a:t>
            </a:r>
          </a:p>
          <a:p>
            <a:endParaRPr lang="es-ES" sz="2400" dirty="0">
              <a:solidFill>
                <a:schemeClr val="dk1"/>
              </a:solidFill>
              <a:latin typeface="Calibri"/>
              <a:cs typeface="Calibri"/>
              <a:sym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</a:rPr>
              <a:t>Es de fácil manejo.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</a:rPr>
              <a:t>Se adapta al tipo de proyecto a ejecutar.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</a:rPr>
              <a:t>Ayuda a ahorrar tiempo.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</a:rPr>
              <a:t>Es flexible y permite dar repuesta rápida a cualquier cambio.</a:t>
            </a:r>
          </a:p>
        </p:txBody>
      </p:sp>
    </p:spTree>
    <p:extLst>
      <p:ext uri="{BB962C8B-B14F-4D97-AF65-F5344CB8AC3E}">
        <p14:creationId xmlns:p14="http://schemas.microsoft.com/office/powerpoint/2010/main" val="3143933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7" y="5725695"/>
            <a:ext cx="5190874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Productos Resultantes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A0D90F6-477E-47FD-85FA-2C22804B4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19F0EF23-3625-43CD-91E6-B0CFB89723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BC4D36F-D067-468B-B25B-EFC3D691DA00}"/>
              </a:ext>
            </a:extLst>
          </p:cNvPr>
          <p:cNvSpPr txBox="1"/>
          <p:nvPr/>
        </p:nvSpPr>
        <p:spPr>
          <a:xfrm>
            <a:off x="2535879" y="1720840"/>
            <a:ext cx="81262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MX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Documento SRS </a:t>
            </a: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(Software </a:t>
            </a:r>
            <a:r>
              <a:rPr lang="es-CO" sz="2400" dirty="0" err="1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Requirement</a:t>
            </a: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 </a:t>
            </a:r>
            <a:r>
              <a:rPr lang="es-CO" sz="2400" dirty="0" err="1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Specification</a:t>
            </a: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  <a:sym typeface="Times New Roman"/>
              </a:rPr>
              <a:t>)</a:t>
            </a: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s-CO" sz="24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</a:rPr>
              <a:t>Código fuente</a:t>
            </a:r>
          </a:p>
          <a:p>
            <a:pPr marL="457200" indent="-457200">
              <a:buFont typeface="+mj-lt"/>
              <a:buAutoNum type="arabicPeriod"/>
            </a:pPr>
            <a:endParaRPr lang="es-CO" sz="24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</a:rPr>
              <a:t>Documentación de plataforma para auditoria de calidad.</a:t>
            </a:r>
          </a:p>
          <a:p>
            <a:pPr marL="457200" indent="-457200">
              <a:buFont typeface="+mj-lt"/>
              <a:buAutoNum type="arabicPeriod"/>
            </a:pPr>
            <a:endParaRPr lang="es-CO" sz="24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</a:rPr>
              <a:t>Manuales de uso.</a:t>
            </a:r>
          </a:p>
          <a:p>
            <a:pPr marL="457200" indent="-457200">
              <a:buFont typeface="+mj-lt"/>
              <a:buAutoNum type="arabicPeriod"/>
            </a:pPr>
            <a:endParaRPr lang="es-CO" sz="24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</a:rPr>
              <a:t>Reporte técnico de proyecto de grado</a:t>
            </a:r>
          </a:p>
        </p:txBody>
      </p:sp>
    </p:spTree>
    <p:extLst>
      <p:ext uri="{BB962C8B-B14F-4D97-AF65-F5344CB8AC3E}">
        <p14:creationId xmlns:p14="http://schemas.microsoft.com/office/powerpoint/2010/main" val="2926571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7" y="5725695"/>
            <a:ext cx="3768474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Cronograma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022C4AB5-2305-4EBC-AD4A-49AE7009D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6301E067-1ED9-45AA-ACE4-3B74BE86F98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8101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7" y="5725695"/>
            <a:ext cx="3521732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Presupuesto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F7ECB3F5-7217-43BB-BDBF-488C787CD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E1F891A5-F45C-4991-9495-804FD4DA17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2655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7" y="5725695"/>
            <a:ext cx="2984703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Riesgos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8140F8DB-C703-452D-A0BE-4CCCE6608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6A6A6462-ECAA-43AD-8B11-02E38FCDCA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29456E2-0141-4DCC-95FF-F27086BE5189}"/>
              </a:ext>
            </a:extLst>
          </p:cNvPr>
          <p:cNvSpPr txBox="1"/>
          <p:nvPr/>
        </p:nvSpPr>
        <p:spPr>
          <a:xfrm>
            <a:off x="2540001" y="2444846"/>
            <a:ext cx="81262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</a:rPr>
              <a:t>Presentación un cambio en la normativa de calidad ISO 9001</a:t>
            </a:r>
          </a:p>
          <a:p>
            <a:pPr marL="457200" indent="-457200"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sz="2400" dirty="0">
                <a:solidFill>
                  <a:schemeClr val="dk1"/>
                </a:solidFill>
                <a:latin typeface="Calibri"/>
                <a:cs typeface="Calibri"/>
              </a:rPr>
              <a:t>Presentación de cambios en el decreto 1072 de 2015</a:t>
            </a:r>
          </a:p>
          <a:p>
            <a:pPr marL="457200" indent="-457200">
              <a:buFont typeface="+mj-lt"/>
              <a:buAutoNum type="arabicPeriod"/>
            </a:pPr>
            <a:endParaRPr lang="es-CO" sz="24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917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7" y="5725695"/>
            <a:ext cx="3649307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Referencias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A2A634D3-DDFC-435B-89A3-EB9501D5E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1F24F593-71EB-4102-9AA8-11D84CF279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4256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79F34147-FB43-49BC-A737-A96F1FBA57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96BFD1EE-E651-466A-A5FF-D349013AD9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37;p33" descr="https://www.usbcali.edu.co/sites/default/files/50Anioshorizontal_web_0.jpg">
            <a:extLst>
              <a:ext uri="{FF2B5EF4-FFF2-40B4-BE49-F238E27FC236}">
                <a16:creationId xmlns:a16="http://schemas.microsoft.com/office/drawing/2014/main" id="{4CF30652-9DEE-4563-B654-70E1062B061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68375" y="4109524"/>
            <a:ext cx="9770482" cy="25431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5061;p81">
            <a:extLst>
              <a:ext uri="{FF2B5EF4-FFF2-40B4-BE49-F238E27FC236}">
                <a16:creationId xmlns:a16="http://schemas.microsoft.com/office/drawing/2014/main" id="{4469EEB2-1639-447D-9942-D70F567085DC}"/>
              </a:ext>
            </a:extLst>
          </p:cNvPr>
          <p:cNvGrpSpPr/>
          <p:nvPr/>
        </p:nvGrpSpPr>
        <p:grpSpPr>
          <a:xfrm>
            <a:off x="2342946" y="503232"/>
            <a:ext cx="3649307" cy="3175331"/>
            <a:chOff x="889275" y="861850"/>
            <a:chExt cx="487950" cy="424575"/>
          </a:xfrm>
          <a:solidFill>
            <a:srgbClr val="FF3200">
              <a:alpha val="10000"/>
            </a:srgbClr>
          </a:solidFill>
        </p:grpSpPr>
        <p:sp>
          <p:nvSpPr>
            <p:cNvPr id="21" name="Google Shape;15065;p81">
              <a:extLst>
                <a:ext uri="{FF2B5EF4-FFF2-40B4-BE49-F238E27FC236}">
                  <a16:creationId xmlns:a16="http://schemas.microsoft.com/office/drawing/2014/main" id="{CD0EE77A-8EF9-4239-A7EE-1DA46EC155A7}"/>
                </a:ext>
              </a:extLst>
            </p:cNvPr>
            <p:cNvSpPr/>
            <p:nvPr/>
          </p:nvSpPr>
          <p:spPr>
            <a:xfrm>
              <a:off x="889275" y="861850"/>
              <a:ext cx="400700" cy="424575"/>
            </a:xfrm>
            <a:custGeom>
              <a:avLst/>
              <a:gdLst/>
              <a:ahLst/>
              <a:cxnLst/>
              <a:rect l="l" t="t" r="r" b="b"/>
              <a:pathLst>
                <a:path w="16028" h="16983" extrusionOk="0">
                  <a:moveTo>
                    <a:pt x="4668" y="4530"/>
                  </a:moveTo>
                  <a:lnTo>
                    <a:pt x="4668" y="10191"/>
                  </a:lnTo>
                  <a:lnTo>
                    <a:pt x="4104" y="10191"/>
                  </a:lnTo>
                  <a:cubicBezTo>
                    <a:pt x="2539" y="10191"/>
                    <a:pt x="1271" y="8923"/>
                    <a:pt x="1271" y="7359"/>
                  </a:cubicBezTo>
                  <a:cubicBezTo>
                    <a:pt x="1271" y="5795"/>
                    <a:pt x="2539" y="4530"/>
                    <a:pt x="4104" y="4530"/>
                  </a:cubicBezTo>
                  <a:close/>
                  <a:moveTo>
                    <a:pt x="6972" y="4530"/>
                  </a:moveTo>
                  <a:lnTo>
                    <a:pt x="6972" y="10191"/>
                  </a:lnTo>
                  <a:lnTo>
                    <a:pt x="5800" y="10191"/>
                  </a:lnTo>
                  <a:lnTo>
                    <a:pt x="5800" y="4530"/>
                  </a:lnTo>
                  <a:close/>
                  <a:moveTo>
                    <a:pt x="12633" y="1565"/>
                  </a:moveTo>
                  <a:lnTo>
                    <a:pt x="12633" y="13153"/>
                  </a:lnTo>
                  <a:lnTo>
                    <a:pt x="8104" y="10436"/>
                  </a:lnTo>
                  <a:lnTo>
                    <a:pt x="8104" y="4282"/>
                  </a:lnTo>
                  <a:lnTo>
                    <a:pt x="12633" y="1565"/>
                  </a:lnTo>
                  <a:close/>
                  <a:moveTo>
                    <a:pt x="14330" y="1133"/>
                  </a:moveTo>
                  <a:cubicBezTo>
                    <a:pt x="14644" y="1133"/>
                    <a:pt x="14898" y="1384"/>
                    <a:pt x="14898" y="1698"/>
                  </a:cubicBezTo>
                  <a:lnTo>
                    <a:pt x="14898" y="13021"/>
                  </a:lnTo>
                  <a:cubicBezTo>
                    <a:pt x="14898" y="13335"/>
                    <a:pt x="14644" y="13588"/>
                    <a:pt x="14330" y="13588"/>
                  </a:cubicBezTo>
                  <a:lnTo>
                    <a:pt x="13766" y="13588"/>
                  </a:lnTo>
                  <a:lnTo>
                    <a:pt x="13766" y="1133"/>
                  </a:lnTo>
                  <a:close/>
                  <a:moveTo>
                    <a:pt x="5800" y="11324"/>
                  </a:moveTo>
                  <a:lnTo>
                    <a:pt x="5800" y="15285"/>
                  </a:lnTo>
                  <a:cubicBezTo>
                    <a:pt x="5800" y="15599"/>
                    <a:pt x="5547" y="15850"/>
                    <a:pt x="5236" y="15850"/>
                  </a:cubicBezTo>
                  <a:cubicBezTo>
                    <a:pt x="4922" y="15850"/>
                    <a:pt x="4668" y="15599"/>
                    <a:pt x="4668" y="15285"/>
                  </a:cubicBezTo>
                  <a:lnTo>
                    <a:pt x="4668" y="11324"/>
                  </a:lnTo>
                  <a:close/>
                  <a:moveTo>
                    <a:pt x="13132" y="1"/>
                  </a:moveTo>
                  <a:lnTo>
                    <a:pt x="13098" y="7"/>
                  </a:lnTo>
                  <a:lnTo>
                    <a:pt x="13074" y="10"/>
                  </a:lnTo>
                  <a:cubicBezTo>
                    <a:pt x="13065" y="10"/>
                    <a:pt x="13056" y="16"/>
                    <a:pt x="13047" y="19"/>
                  </a:cubicBezTo>
                  <a:cubicBezTo>
                    <a:pt x="13038" y="22"/>
                    <a:pt x="13029" y="22"/>
                    <a:pt x="13020" y="25"/>
                  </a:cubicBezTo>
                  <a:lnTo>
                    <a:pt x="12996" y="34"/>
                  </a:lnTo>
                  <a:lnTo>
                    <a:pt x="12966" y="46"/>
                  </a:lnTo>
                  <a:lnTo>
                    <a:pt x="12947" y="58"/>
                  </a:lnTo>
                  <a:cubicBezTo>
                    <a:pt x="12935" y="61"/>
                    <a:pt x="12926" y="67"/>
                    <a:pt x="12917" y="73"/>
                  </a:cubicBezTo>
                  <a:lnTo>
                    <a:pt x="12908" y="79"/>
                  </a:lnTo>
                  <a:lnTo>
                    <a:pt x="7380" y="3398"/>
                  </a:lnTo>
                  <a:lnTo>
                    <a:pt x="4104" y="3398"/>
                  </a:lnTo>
                  <a:cubicBezTo>
                    <a:pt x="2023" y="3398"/>
                    <a:pt x="299" y="5001"/>
                    <a:pt x="151" y="7075"/>
                  </a:cubicBezTo>
                  <a:cubicBezTo>
                    <a:pt x="0" y="9150"/>
                    <a:pt x="1480" y="10986"/>
                    <a:pt x="3536" y="11281"/>
                  </a:cubicBezTo>
                  <a:lnTo>
                    <a:pt x="3536" y="15285"/>
                  </a:lnTo>
                  <a:cubicBezTo>
                    <a:pt x="3536" y="16224"/>
                    <a:pt x="4297" y="16982"/>
                    <a:pt x="5236" y="16982"/>
                  </a:cubicBezTo>
                  <a:cubicBezTo>
                    <a:pt x="6172" y="16982"/>
                    <a:pt x="6933" y="16224"/>
                    <a:pt x="6933" y="15285"/>
                  </a:cubicBezTo>
                  <a:lnTo>
                    <a:pt x="6933" y="11324"/>
                  </a:lnTo>
                  <a:lnTo>
                    <a:pt x="7380" y="11324"/>
                  </a:lnTo>
                  <a:lnTo>
                    <a:pt x="12908" y="14639"/>
                  </a:lnTo>
                  <a:cubicBezTo>
                    <a:pt x="12911" y="14642"/>
                    <a:pt x="12914" y="14642"/>
                    <a:pt x="12920" y="14645"/>
                  </a:cubicBezTo>
                  <a:lnTo>
                    <a:pt x="12935" y="14654"/>
                  </a:lnTo>
                  <a:cubicBezTo>
                    <a:pt x="12947" y="14660"/>
                    <a:pt x="12963" y="14666"/>
                    <a:pt x="12975" y="14672"/>
                  </a:cubicBezTo>
                  <a:lnTo>
                    <a:pt x="12984" y="14675"/>
                  </a:lnTo>
                  <a:cubicBezTo>
                    <a:pt x="12996" y="14681"/>
                    <a:pt x="13011" y="14687"/>
                    <a:pt x="13023" y="14690"/>
                  </a:cubicBezTo>
                  <a:lnTo>
                    <a:pt x="13038" y="14696"/>
                  </a:lnTo>
                  <a:cubicBezTo>
                    <a:pt x="13053" y="14699"/>
                    <a:pt x="13068" y="14702"/>
                    <a:pt x="13083" y="14708"/>
                  </a:cubicBezTo>
                  <a:cubicBezTo>
                    <a:pt x="13101" y="14712"/>
                    <a:pt x="13117" y="14715"/>
                    <a:pt x="13135" y="14715"/>
                  </a:cubicBezTo>
                  <a:lnTo>
                    <a:pt x="13144" y="14715"/>
                  </a:lnTo>
                  <a:cubicBezTo>
                    <a:pt x="13162" y="14715"/>
                    <a:pt x="13180" y="14718"/>
                    <a:pt x="13198" y="14718"/>
                  </a:cubicBezTo>
                  <a:lnTo>
                    <a:pt x="14330" y="14718"/>
                  </a:lnTo>
                  <a:cubicBezTo>
                    <a:pt x="15266" y="14718"/>
                    <a:pt x="16027" y="13957"/>
                    <a:pt x="16027" y="13021"/>
                  </a:cubicBezTo>
                  <a:lnTo>
                    <a:pt x="16027" y="1698"/>
                  </a:lnTo>
                  <a:cubicBezTo>
                    <a:pt x="16027" y="759"/>
                    <a:pt x="15266" y="1"/>
                    <a:pt x="143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4" name="Google Shape;15062;p81">
              <a:extLst>
                <a:ext uri="{FF2B5EF4-FFF2-40B4-BE49-F238E27FC236}">
                  <a16:creationId xmlns:a16="http://schemas.microsoft.com/office/drawing/2014/main" id="{56C7C2CC-3168-43B0-8760-88D92DD9A528}"/>
                </a:ext>
              </a:extLst>
            </p:cNvPr>
            <p:cNvSpPr/>
            <p:nvPr/>
          </p:nvSpPr>
          <p:spPr>
            <a:xfrm>
              <a:off x="1319225" y="1031700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1"/>
                  </a:moveTo>
                  <a:cubicBezTo>
                    <a:pt x="255" y="1"/>
                    <a:pt x="1" y="251"/>
                    <a:pt x="1" y="565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5"/>
                  </a:cubicBezTo>
                  <a:cubicBezTo>
                    <a:pt x="2265" y="251"/>
                    <a:pt x="2012" y="1"/>
                    <a:pt x="17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5" name="Google Shape;15063;p81">
              <a:extLst>
                <a:ext uri="{FF2B5EF4-FFF2-40B4-BE49-F238E27FC236}">
                  <a16:creationId xmlns:a16="http://schemas.microsoft.com/office/drawing/2014/main" id="{E686BD30-B040-4C55-BD7C-5D9D3AF5C4E4}"/>
                </a:ext>
              </a:extLst>
            </p:cNvPr>
            <p:cNvSpPr/>
            <p:nvPr/>
          </p:nvSpPr>
          <p:spPr>
            <a:xfrm>
              <a:off x="1314475" y="946725"/>
              <a:ext cx="62750" cy="56700"/>
            </a:xfrm>
            <a:custGeom>
              <a:avLst/>
              <a:gdLst/>
              <a:ahLst/>
              <a:cxnLst/>
              <a:rect l="l" t="t" r="r" b="b"/>
              <a:pathLst>
                <a:path w="2510" h="2268" extrusionOk="0">
                  <a:moveTo>
                    <a:pt x="1889" y="0"/>
                  </a:moveTo>
                  <a:cubicBezTo>
                    <a:pt x="1744" y="0"/>
                    <a:pt x="1599" y="55"/>
                    <a:pt x="1489" y="166"/>
                  </a:cubicBezTo>
                  <a:lnTo>
                    <a:pt x="357" y="1298"/>
                  </a:lnTo>
                  <a:cubicBezTo>
                    <a:pt x="1" y="1657"/>
                    <a:pt x="251" y="2267"/>
                    <a:pt x="759" y="2267"/>
                  </a:cubicBezTo>
                  <a:cubicBezTo>
                    <a:pt x="906" y="2267"/>
                    <a:pt x="1051" y="2207"/>
                    <a:pt x="1157" y="2101"/>
                  </a:cubicBezTo>
                  <a:lnTo>
                    <a:pt x="2289" y="969"/>
                  </a:lnTo>
                  <a:cubicBezTo>
                    <a:pt x="2510" y="745"/>
                    <a:pt x="2510" y="389"/>
                    <a:pt x="2289" y="166"/>
                  </a:cubicBezTo>
                  <a:cubicBezTo>
                    <a:pt x="2179" y="55"/>
                    <a:pt x="2034" y="0"/>
                    <a:pt x="18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15064;p81">
              <a:extLst>
                <a:ext uri="{FF2B5EF4-FFF2-40B4-BE49-F238E27FC236}">
                  <a16:creationId xmlns:a16="http://schemas.microsoft.com/office/drawing/2014/main" id="{9E19AF60-6DA5-4EA4-B8BE-A98A006A3810}"/>
                </a:ext>
              </a:extLst>
            </p:cNvPr>
            <p:cNvSpPr/>
            <p:nvPr/>
          </p:nvSpPr>
          <p:spPr>
            <a:xfrm>
              <a:off x="1317875" y="1088250"/>
              <a:ext cx="59350" cy="56675"/>
            </a:xfrm>
            <a:custGeom>
              <a:avLst/>
              <a:gdLst/>
              <a:ahLst/>
              <a:cxnLst/>
              <a:rect l="l" t="t" r="r" b="b"/>
              <a:pathLst>
                <a:path w="2374" h="2267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1" y="390"/>
                    <a:pt x="1" y="746"/>
                    <a:pt x="221" y="969"/>
                  </a:cubicBezTo>
                  <a:lnTo>
                    <a:pt x="1353" y="2102"/>
                  </a:lnTo>
                  <a:cubicBezTo>
                    <a:pt x="1463" y="2212"/>
                    <a:pt x="1608" y="2267"/>
                    <a:pt x="1753" y="2267"/>
                  </a:cubicBezTo>
                  <a:cubicBezTo>
                    <a:pt x="1898" y="2267"/>
                    <a:pt x="2043" y="2212"/>
                    <a:pt x="2153" y="2102"/>
                  </a:cubicBezTo>
                  <a:cubicBezTo>
                    <a:pt x="2374" y="1878"/>
                    <a:pt x="2374" y="1522"/>
                    <a:pt x="2153" y="1298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935CA2D0-D38B-475D-8FAE-297F93331D98}"/>
              </a:ext>
            </a:extLst>
          </p:cNvPr>
          <p:cNvSpPr/>
          <p:nvPr/>
        </p:nvSpPr>
        <p:spPr>
          <a:xfrm>
            <a:off x="4308378" y="2005525"/>
            <a:ext cx="6657336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000" b="1" i="1" dirty="0">
                <a:ln w="38100">
                  <a:solidFill>
                    <a:srgbClr val="FF32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Preguntas</a:t>
            </a:r>
            <a:endParaRPr lang="es-ES" sz="12000" b="0" i="1" cap="none" spc="0" dirty="0">
              <a:ln w="38100">
                <a:solidFill>
                  <a:srgbClr val="FF3200"/>
                </a:solidFill>
                <a:prstDash val="solid"/>
              </a:ln>
              <a:solidFill>
                <a:srgbClr val="FF32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20696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16" name="Google Shape;6873;p75">
            <a:extLst>
              <a:ext uri="{FF2B5EF4-FFF2-40B4-BE49-F238E27FC236}">
                <a16:creationId xmlns:a16="http://schemas.microsoft.com/office/drawing/2014/main" id="{9542E9C2-A868-4F22-B5AD-5C6B5FA0DF16}"/>
              </a:ext>
            </a:extLst>
          </p:cNvPr>
          <p:cNvGrpSpPr/>
          <p:nvPr/>
        </p:nvGrpSpPr>
        <p:grpSpPr>
          <a:xfrm>
            <a:off x="164897" y="5725695"/>
            <a:ext cx="4095030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6874;p75">
              <a:extLst>
                <a:ext uri="{FF2B5EF4-FFF2-40B4-BE49-F238E27FC236}">
                  <a16:creationId xmlns:a16="http://schemas.microsoft.com/office/drawing/2014/main" id="{4FB88F48-2601-41CD-A121-BBE0661ABCCB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75;p75">
              <a:extLst>
                <a:ext uri="{FF2B5EF4-FFF2-40B4-BE49-F238E27FC236}">
                  <a16:creationId xmlns:a16="http://schemas.microsoft.com/office/drawing/2014/main" id="{C2CB28FB-726D-40ED-95A0-04DFA351EA3B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76;p75">
              <a:extLst>
                <a:ext uri="{FF2B5EF4-FFF2-40B4-BE49-F238E27FC236}">
                  <a16:creationId xmlns:a16="http://schemas.microsoft.com/office/drawing/2014/main" id="{2FC1C19A-D003-4766-B4C7-DBC7E9D4F016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nombre</a:t>
              </a:r>
              <a:endParaRPr sz="2400" dirty="0"/>
            </a:p>
          </p:txBody>
        </p:sp>
      </p:grpSp>
      <p:pic>
        <p:nvPicPr>
          <p:cNvPr id="9" name="Imagen 8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8C26CE0C-A53F-4035-B554-D07F3FDBC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10" name="Google Shape;123;p16">
            <a:extLst>
              <a:ext uri="{FF2B5EF4-FFF2-40B4-BE49-F238E27FC236}">
                <a16:creationId xmlns:a16="http://schemas.microsoft.com/office/drawing/2014/main" id="{67DE5929-5CA8-4FAB-A89E-4DD30DB27BB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0796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783EEBA8-6F61-4098-AE98-83FCB1654508}"/>
              </a:ext>
            </a:extLst>
          </p:cNvPr>
          <p:cNvSpPr/>
          <p:nvPr/>
        </p:nvSpPr>
        <p:spPr>
          <a:xfrm rot="10800000">
            <a:off x="-2" y="-1"/>
            <a:ext cx="2540002" cy="7351483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9C75BE0E-2FAF-454E-96A4-CC1BE279188D}"/>
              </a:ext>
            </a:extLst>
          </p:cNvPr>
          <p:cNvSpPr/>
          <p:nvPr/>
        </p:nvSpPr>
        <p:spPr>
          <a:xfrm rot="10800000">
            <a:off x="-1" y="0"/>
            <a:ext cx="2305881" cy="6858000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F04B79AD-D8DE-43CB-A772-55B28CF0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643" y="0"/>
            <a:ext cx="3649307" cy="1915886"/>
          </a:xfrm>
          <a:prstGeom prst="rect">
            <a:avLst/>
          </a:prstGeom>
        </p:spPr>
      </p:pic>
      <p:grpSp>
        <p:nvGrpSpPr>
          <p:cNvPr id="5" name="Google Shape;6873;p75">
            <a:extLst>
              <a:ext uri="{FF2B5EF4-FFF2-40B4-BE49-F238E27FC236}">
                <a16:creationId xmlns:a16="http://schemas.microsoft.com/office/drawing/2014/main" id="{C02E6B6F-0491-4A50-AD9D-C00B9E5C09A3}"/>
              </a:ext>
            </a:extLst>
          </p:cNvPr>
          <p:cNvGrpSpPr/>
          <p:nvPr/>
        </p:nvGrpSpPr>
        <p:grpSpPr>
          <a:xfrm>
            <a:off x="164897" y="5725695"/>
            <a:ext cx="4327590" cy="834383"/>
            <a:chOff x="4411970" y="2726085"/>
            <a:chExt cx="643107" cy="193659"/>
          </a:xfrm>
          <a:solidFill>
            <a:schemeClr val="bg1">
              <a:lumMod val="8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" name="Google Shape;6874;p75">
              <a:extLst>
                <a:ext uri="{FF2B5EF4-FFF2-40B4-BE49-F238E27FC236}">
                  <a16:creationId xmlns:a16="http://schemas.microsoft.com/office/drawing/2014/main" id="{57012A2E-4B04-4FE9-A4D9-FBE81AAB271C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Google Shape;6875;p75">
              <a:extLst>
                <a:ext uri="{FF2B5EF4-FFF2-40B4-BE49-F238E27FC236}">
                  <a16:creationId xmlns:a16="http://schemas.microsoft.com/office/drawing/2014/main" id="{67ED3C0C-3DD0-4C97-A62B-B416F9DC8814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Google Shape;6876;p75">
              <a:extLst>
                <a:ext uri="{FF2B5EF4-FFF2-40B4-BE49-F238E27FC236}">
                  <a16:creationId xmlns:a16="http://schemas.microsoft.com/office/drawing/2014/main" id="{25459547-0B93-4CE0-924D-605E04F5D432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grpFill/>
            <a:ln w="28575" cap="flat" cmpd="sng">
              <a:solidFill>
                <a:srgbClr val="FF32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s-ES" sz="2400" dirty="0"/>
                <a:t>      </a:t>
              </a:r>
              <a:r>
                <a:rPr lang="es-ES" sz="4400" b="1" i="1" dirty="0">
                  <a:latin typeface="Amatic SC" panose="00000500000000000000" pitchFamily="2" charset="-79"/>
                  <a:cs typeface="Amatic SC" panose="00000500000000000000" pitchFamily="2" charset="-79"/>
                </a:rPr>
                <a:t>Nombre tentativo</a:t>
              </a:r>
              <a:r>
                <a:rPr lang="es-ES" sz="2400" dirty="0"/>
                <a:t> </a:t>
              </a:r>
              <a:endParaRPr sz="24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FD81ED95-67A1-4689-8343-1B60406E5B41}"/>
              </a:ext>
            </a:extLst>
          </p:cNvPr>
          <p:cNvGrpSpPr/>
          <p:nvPr/>
        </p:nvGrpSpPr>
        <p:grpSpPr>
          <a:xfrm>
            <a:off x="2023945" y="526436"/>
            <a:ext cx="7551181" cy="4424147"/>
            <a:chOff x="2305881" y="374958"/>
            <a:chExt cx="7551181" cy="4424147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68956A19-1828-49C0-8420-05CB228226DE}"/>
                </a:ext>
              </a:extLst>
            </p:cNvPr>
            <p:cNvSpPr/>
            <p:nvPr/>
          </p:nvSpPr>
          <p:spPr>
            <a:xfrm>
              <a:off x="3074080" y="613838"/>
              <a:ext cx="6043839" cy="3795273"/>
            </a:xfrm>
            <a:prstGeom prst="rect">
              <a:avLst/>
            </a:prstGeom>
            <a:solidFill>
              <a:srgbClr val="393E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25" name="Google Shape;287;p32">
              <a:extLst>
                <a:ext uri="{FF2B5EF4-FFF2-40B4-BE49-F238E27FC236}">
                  <a16:creationId xmlns:a16="http://schemas.microsoft.com/office/drawing/2014/main" id="{87B1E548-75FD-4DA5-BBE5-B603ACC758E7}"/>
                </a:ext>
              </a:extLst>
            </p:cNvPr>
            <p:cNvGrpSpPr/>
            <p:nvPr/>
          </p:nvGrpSpPr>
          <p:grpSpPr>
            <a:xfrm>
              <a:off x="2305881" y="374958"/>
              <a:ext cx="7551181" cy="4424147"/>
              <a:chOff x="1177450" y="241631"/>
              <a:chExt cx="6173152" cy="3616776"/>
            </a:xfrm>
            <a:solidFill>
              <a:schemeClr val="bg1"/>
            </a:solidFill>
          </p:grpSpPr>
          <p:sp>
            <p:nvSpPr>
              <p:cNvPr id="26" name="Google Shape;288;p32">
                <a:extLst>
                  <a:ext uri="{FF2B5EF4-FFF2-40B4-BE49-F238E27FC236}">
                    <a16:creationId xmlns:a16="http://schemas.microsoft.com/office/drawing/2014/main" id="{5AB3DF69-14CE-4D58-A303-68658C415969}"/>
                  </a:ext>
                </a:extLst>
              </p:cNvPr>
              <p:cNvSpPr/>
              <p:nvPr/>
            </p:nvSpPr>
            <p:spPr>
              <a:xfrm>
                <a:off x="1682275" y="241631"/>
                <a:ext cx="5161606" cy="3454973"/>
              </a:xfrm>
              <a:custGeom>
                <a:avLst/>
                <a:gdLst/>
                <a:ahLst/>
                <a:cxnLst/>
                <a:rect l="l" t="t" r="r" b="b"/>
                <a:pathLst>
                  <a:path w="5161606" h="3454973" extrusionOk="0">
                    <a:moveTo>
                      <a:pt x="4992053" y="0"/>
                    </a:moveTo>
                    <a:lnTo>
                      <a:pt x="170498" y="0"/>
                    </a:lnTo>
                    <a:cubicBezTo>
                      <a:pt x="76200" y="0"/>
                      <a:pt x="0" y="76143"/>
                      <a:pt x="0" y="170369"/>
                    </a:cubicBezTo>
                    <a:lnTo>
                      <a:pt x="0" y="3396915"/>
                    </a:lnTo>
                    <a:cubicBezTo>
                      <a:pt x="0" y="3429275"/>
                      <a:pt x="26670" y="3454973"/>
                      <a:pt x="58102" y="3454973"/>
                    </a:cubicBezTo>
                    <a:lnTo>
                      <a:pt x="5103495" y="3454973"/>
                    </a:lnTo>
                    <a:cubicBezTo>
                      <a:pt x="5135880" y="3454973"/>
                      <a:pt x="5161598" y="3428324"/>
                      <a:pt x="5161598" y="3396915"/>
                    </a:cubicBezTo>
                    <a:lnTo>
                      <a:pt x="5161598" y="170369"/>
                    </a:lnTo>
                    <a:cubicBezTo>
                      <a:pt x="5162550" y="76143"/>
                      <a:pt x="5086350" y="0"/>
                      <a:pt x="4992053" y="0"/>
                    </a:cubicBezTo>
                    <a:close/>
                    <a:moveTo>
                      <a:pt x="4981575" y="3245581"/>
                    </a:moveTo>
                    <a:lnTo>
                      <a:pt x="190500" y="3245581"/>
                    </a:lnTo>
                    <a:lnTo>
                      <a:pt x="190500" y="199874"/>
                    </a:lnTo>
                    <a:lnTo>
                      <a:pt x="4981575" y="199874"/>
                    </a:lnTo>
                    <a:lnTo>
                      <a:pt x="4981575" y="3245581"/>
                    </a:lnTo>
                    <a:close/>
                  </a:path>
                </a:pathLst>
              </a:custGeom>
              <a:grp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89;p32">
                <a:extLst>
                  <a:ext uri="{FF2B5EF4-FFF2-40B4-BE49-F238E27FC236}">
                    <a16:creationId xmlns:a16="http://schemas.microsoft.com/office/drawing/2014/main" id="{94A0B41F-57E4-49C0-BE57-1D90F497F3AE}"/>
                  </a:ext>
                </a:extLst>
              </p:cNvPr>
              <p:cNvSpPr/>
              <p:nvPr/>
            </p:nvSpPr>
            <p:spPr>
              <a:xfrm>
                <a:off x="1177450" y="3763229"/>
                <a:ext cx="6173152" cy="95178"/>
              </a:xfrm>
              <a:custGeom>
                <a:avLst/>
                <a:gdLst/>
                <a:ahLst/>
                <a:cxnLst/>
                <a:rect l="l" t="t" r="r" b="b"/>
                <a:pathLst>
                  <a:path w="6173152" h="95178" extrusionOk="0">
                    <a:moveTo>
                      <a:pt x="0" y="0"/>
                    </a:moveTo>
                    <a:cubicBezTo>
                      <a:pt x="0" y="0"/>
                      <a:pt x="129540" y="95178"/>
                      <a:pt x="450533" y="95178"/>
                    </a:cubicBezTo>
                    <a:lnTo>
                      <a:pt x="5817870" y="95178"/>
                    </a:lnTo>
                    <a:cubicBezTo>
                      <a:pt x="5948363" y="95178"/>
                      <a:pt x="6173153" y="0"/>
                      <a:pt x="617315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90;p32">
                <a:extLst>
                  <a:ext uri="{FF2B5EF4-FFF2-40B4-BE49-F238E27FC236}">
                    <a16:creationId xmlns:a16="http://schemas.microsoft.com/office/drawing/2014/main" id="{D88083E2-3C0C-4A96-94BD-38787F6BBE74}"/>
                  </a:ext>
                </a:extLst>
              </p:cNvPr>
              <p:cNvSpPr/>
              <p:nvPr/>
            </p:nvSpPr>
            <p:spPr>
              <a:xfrm>
                <a:off x="1177450" y="3687086"/>
                <a:ext cx="6172200" cy="76142"/>
              </a:xfrm>
              <a:custGeom>
                <a:avLst/>
                <a:gdLst/>
                <a:ahLst/>
                <a:cxnLst/>
                <a:rect l="l" t="t" r="r" b="b"/>
                <a:pathLst>
                  <a:path w="6172200" h="76142" extrusionOk="0">
                    <a:moveTo>
                      <a:pt x="0" y="76143"/>
                    </a:moveTo>
                    <a:lnTo>
                      <a:pt x="6172200" y="76143"/>
                    </a:lnTo>
                    <a:lnTo>
                      <a:pt x="61722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1;p32">
                <a:extLst>
                  <a:ext uri="{FF2B5EF4-FFF2-40B4-BE49-F238E27FC236}">
                    <a16:creationId xmlns:a16="http://schemas.microsoft.com/office/drawing/2014/main" id="{64F036E5-D300-4D19-9473-BA3008B549C5}"/>
                  </a:ext>
                </a:extLst>
              </p:cNvPr>
              <p:cNvSpPr/>
              <p:nvPr/>
            </p:nvSpPr>
            <p:spPr>
              <a:xfrm>
                <a:off x="3806350" y="3687086"/>
                <a:ext cx="903922" cy="47589"/>
              </a:xfrm>
              <a:custGeom>
                <a:avLst/>
                <a:gdLst/>
                <a:ahLst/>
                <a:cxnLst/>
                <a:rect l="l" t="t" r="r" b="b"/>
                <a:pathLst>
                  <a:path w="903922" h="47589" extrusionOk="0">
                    <a:moveTo>
                      <a:pt x="0" y="0"/>
                    </a:moveTo>
                    <a:cubicBezTo>
                      <a:pt x="0" y="0"/>
                      <a:pt x="26670" y="47589"/>
                      <a:pt x="53340" y="47589"/>
                    </a:cubicBezTo>
                    <a:lnTo>
                      <a:pt x="850582" y="47589"/>
                    </a:lnTo>
                    <a:cubicBezTo>
                      <a:pt x="877253" y="47589"/>
                      <a:pt x="903922" y="0"/>
                      <a:pt x="90392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3" name="Imagen 2" descr="Logotipo&#10;&#10;Descripción generada automáticamente">
              <a:extLst>
                <a:ext uri="{FF2B5EF4-FFF2-40B4-BE49-F238E27FC236}">
                  <a16:creationId xmlns:a16="http://schemas.microsoft.com/office/drawing/2014/main" id="{3482FADC-D3D7-43F8-ACBE-438A91B03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3383" y="613839"/>
              <a:ext cx="3725234" cy="3725234"/>
            </a:xfrm>
            <a:prstGeom prst="rect">
              <a:avLst/>
            </a:prstGeom>
          </p:spPr>
        </p:pic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89261D50-04D6-4C4A-B49A-528142537CD5}"/>
              </a:ext>
            </a:extLst>
          </p:cNvPr>
          <p:cNvGrpSpPr/>
          <p:nvPr/>
        </p:nvGrpSpPr>
        <p:grpSpPr>
          <a:xfrm>
            <a:off x="7723800" y="1602237"/>
            <a:ext cx="2845772" cy="4391185"/>
            <a:chOff x="8570952" y="1233407"/>
            <a:chExt cx="2845772" cy="4391185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C2F16B2C-C855-4BDC-92A1-7D393AADE101}"/>
                </a:ext>
              </a:extLst>
            </p:cNvPr>
            <p:cNvSpPr/>
            <p:nvPr/>
          </p:nvSpPr>
          <p:spPr>
            <a:xfrm>
              <a:off x="8609052" y="1536700"/>
              <a:ext cx="2782848" cy="3784600"/>
            </a:xfrm>
            <a:prstGeom prst="rect">
              <a:avLst/>
            </a:prstGeom>
            <a:solidFill>
              <a:srgbClr val="393E4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20" name="Google Shape;275;p31">
              <a:extLst>
                <a:ext uri="{FF2B5EF4-FFF2-40B4-BE49-F238E27FC236}">
                  <a16:creationId xmlns:a16="http://schemas.microsoft.com/office/drawing/2014/main" id="{62E132B3-C7A7-423A-9B22-1E52670AE5DC}"/>
                </a:ext>
              </a:extLst>
            </p:cNvPr>
            <p:cNvGrpSpPr/>
            <p:nvPr/>
          </p:nvGrpSpPr>
          <p:grpSpPr>
            <a:xfrm>
              <a:off x="8570952" y="1233407"/>
              <a:ext cx="2845772" cy="4391185"/>
              <a:chOff x="2112475" y="238125"/>
              <a:chExt cx="3395050" cy="5238750"/>
            </a:xfrm>
          </p:grpSpPr>
          <p:sp>
            <p:nvSpPr>
              <p:cNvPr id="21" name="Google Shape;276;p31">
                <a:extLst>
                  <a:ext uri="{FF2B5EF4-FFF2-40B4-BE49-F238E27FC236}">
                    <a16:creationId xmlns:a16="http://schemas.microsoft.com/office/drawing/2014/main" id="{36661E80-2FB7-4FFB-851B-D2910D171191}"/>
                  </a:ext>
                </a:extLst>
              </p:cNvPr>
              <p:cNvSpPr/>
              <p:nvPr/>
            </p:nvSpPr>
            <p:spPr>
              <a:xfrm>
                <a:off x="2112475" y="238125"/>
                <a:ext cx="3395050" cy="5238750"/>
              </a:xfrm>
              <a:custGeom>
                <a:avLst/>
                <a:gdLst/>
                <a:ahLst/>
                <a:cxnLst/>
                <a:rect l="l" t="t" r="r" b="b"/>
                <a:pathLst>
                  <a:path w="135802" h="209550" extrusionOk="0">
                    <a:moveTo>
                      <a:pt x="132205" y="18886"/>
                    </a:moveTo>
                    <a:lnTo>
                      <a:pt x="132205" y="190364"/>
                    </a:lnTo>
                    <a:lnTo>
                      <a:pt x="3597" y="190364"/>
                    </a:lnTo>
                    <a:lnTo>
                      <a:pt x="3597" y="18886"/>
                    </a:lnTo>
                    <a:close/>
                    <a:moveTo>
                      <a:pt x="8019" y="0"/>
                    </a:moveTo>
                    <a:lnTo>
                      <a:pt x="7270" y="75"/>
                    </a:lnTo>
                    <a:lnTo>
                      <a:pt x="6445" y="150"/>
                    </a:lnTo>
                    <a:lnTo>
                      <a:pt x="5696" y="375"/>
                    </a:lnTo>
                    <a:lnTo>
                      <a:pt x="4946" y="600"/>
                    </a:lnTo>
                    <a:lnTo>
                      <a:pt x="4197" y="974"/>
                    </a:lnTo>
                    <a:lnTo>
                      <a:pt x="3522" y="1349"/>
                    </a:lnTo>
                    <a:lnTo>
                      <a:pt x="2923" y="1874"/>
                    </a:lnTo>
                    <a:lnTo>
                      <a:pt x="2323" y="2323"/>
                    </a:lnTo>
                    <a:lnTo>
                      <a:pt x="1874" y="2923"/>
                    </a:lnTo>
                    <a:lnTo>
                      <a:pt x="1349" y="3522"/>
                    </a:lnTo>
                    <a:lnTo>
                      <a:pt x="974" y="4197"/>
                    </a:lnTo>
                    <a:lnTo>
                      <a:pt x="600" y="4946"/>
                    </a:lnTo>
                    <a:lnTo>
                      <a:pt x="375" y="5696"/>
                    </a:lnTo>
                    <a:lnTo>
                      <a:pt x="150" y="6445"/>
                    </a:lnTo>
                    <a:lnTo>
                      <a:pt x="75" y="7270"/>
                    </a:lnTo>
                    <a:lnTo>
                      <a:pt x="0" y="8019"/>
                    </a:lnTo>
                    <a:lnTo>
                      <a:pt x="0" y="201531"/>
                    </a:lnTo>
                    <a:lnTo>
                      <a:pt x="75" y="202280"/>
                    </a:lnTo>
                    <a:lnTo>
                      <a:pt x="150" y="203105"/>
                    </a:lnTo>
                    <a:lnTo>
                      <a:pt x="375" y="203854"/>
                    </a:lnTo>
                    <a:lnTo>
                      <a:pt x="600" y="204604"/>
                    </a:lnTo>
                    <a:lnTo>
                      <a:pt x="974" y="205353"/>
                    </a:lnTo>
                    <a:lnTo>
                      <a:pt x="1349" y="206028"/>
                    </a:lnTo>
                    <a:lnTo>
                      <a:pt x="1874" y="206627"/>
                    </a:lnTo>
                    <a:lnTo>
                      <a:pt x="2323" y="207227"/>
                    </a:lnTo>
                    <a:lnTo>
                      <a:pt x="2923" y="207676"/>
                    </a:lnTo>
                    <a:lnTo>
                      <a:pt x="3522" y="208201"/>
                    </a:lnTo>
                    <a:lnTo>
                      <a:pt x="4197" y="208576"/>
                    </a:lnTo>
                    <a:lnTo>
                      <a:pt x="4946" y="208950"/>
                    </a:lnTo>
                    <a:lnTo>
                      <a:pt x="5696" y="209175"/>
                    </a:lnTo>
                    <a:lnTo>
                      <a:pt x="6445" y="209400"/>
                    </a:lnTo>
                    <a:lnTo>
                      <a:pt x="7270" y="209475"/>
                    </a:lnTo>
                    <a:lnTo>
                      <a:pt x="8019" y="209550"/>
                    </a:lnTo>
                    <a:lnTo>
                      <a:pt x="127783" y="209550"/>
                    </a:lnTo>
                    <a:lnTo>
                      <a:pt x="128532" y="209475"/>
                    </a:lnTo>
                    <a:lnTo>
                      <a:pt x="129357" y="209400"/>
                    </a:lnTo>
                    <a:lnTo>
                      <a:pt x="130106" y="209175"/>
                    </a:lnTo>
                    <a:lnTo>
                      <a:pt x="130856" y="208950"/>
                    </a:lnTo>
                    <a:lnTo>
                      <a:pt x="131605" y="208576"/>
                    </a:lnTo>
                    <a:lnTo>
                      <a:pt x="132280" y="208201"/>
                    </a:lnTo>
                    <a:lnTo>
                      <a:pt x="132879" y="207676"/>
                    </a:lnTo>
                    <a:lnTo>
                      <a:pt x="133479" y="207227"/>
                    </a:lnTo>
                    <a:lnTo>
                      <a:pt x="133928" y="206627"/>
                    </a:lnTo>
                    <a:lnTo>
                      <a:pt x="134453" y="206028"/>
                    </a:lnTo>
                    <a:lnTo>
                      <a:pt x="134828" y="205353"/>
                    </a:lnTo>
                    <a:lnTo>
                      <a:pt x="135202" y="204604"/>
                    </a:lnTo>
                    <a:lnTo>
                      <a:pt x="135427" y="203854"/>
                    </a:lnTo>
                    <a:lnTo>
                      <a:pt x="135652" y="203105"/>
                    </a:lnTo>
                    <a:lnTo>
                      <a:pt x="135727" y="202280"/>
                    </a:lnTo>
                    <a:lnTo>
                      <a:pt x="135802" y="201531"/>
                    </a:lnTo>
                    <a:lnTo>
                      <a:pt x="135802" y="8019"/>
                    </a:lnTo>
                    <a:lnTo>
                      <a:pt x="135727" y="7270"/>
                    </a:lnTo>
                    <a:lnTo>
                      <a:pt x="135652" y="6445"/>
                    </a:lnTo>
                    <a:lnTo>
                      <a:pt x="135427" y="5696"/>
                    </a:lnTo>
                    <a:lnTo>
                      <a:pt x="135202" y="4946"/>
                    </a:lnTo>
                    <a:lnTo>
                      <a:pt x="134828" y="4197"/>
                    </a:lnTo>
                    <a:lnTo>
                      <a:pt x="134453" y="3522"/>
                    </a:lnTo>
                    <a:lnTo>
                      <a:pt x="133928" y="2923"/>
                    </a:lnTo>
                    <a:lnTo>
                      <a:pt x="133479" y="2323"/>
                    </a:lnTo>
                    <a:lnTo>
                      <a:pt x="132879" y="1874"/>
                    </a:lnTo>
                    <a:lnTo>
                      <a:pt x="132280" y="1349"/>
                    </a:lnTo>
                    <a:lnTo>
                      <a:pt x="131605" y="974"/>
                    </a:lnTo>
                    <a:lnTo>
                      <a:pt x="130856" y="600"/>
                    </a:lnTo>
                    <a:lnTo>
                      <a:pt x="130106" y="375"/>
                    </a:lnTo>
                    <a:lnTo>
                      <a:pt x="129357" y="150"/>
                    </a:lnTo>
                    <a:lnTo>
                      <a:pt x="128532" y="75"/>
                    </a:lnTo>
                    <a:lnTo>
                      <a:pt x="127783" y="0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77;p31">
                <a:extLst>
                  <a:ext uri="{FF2B5EF4-FFF2-40B4-BE49-F238E27FC236}">
                    <a16:creationId xmlns:a16="http://schemas.microsoft.com/office/drawing/2014/main" id="{176A501E-E8EC-4FE1-9102-03C59405DE84}"/>
                  </a:ext>
                </a:extLst>
              </p:cNvPr>
              <p:cNvSpPr/>
              <p:nvPr/>
            </p:nvSpPr>
            <p:spPr>
              <a:xfrm>
                <a:off x="3671350" y="5147100"/>
                <a:ext cx="279175" cy="179900"/>
              </a:xfrm>
              <a:custGeom>
                <a:avLst/>
                <a:gdLst/>
                <a:ahLst/>
                <a:cxnLst/>
                <a:rect l="l" t="t" r="r" b="b"/>
                <a:pathLst>
                  <a:path w="11167" h="7196" extrusionOk="0">
                    <a:moveTo>
                      <a:pt x="3597" y="0"/>
                    </a:moveTo>
                    <a:lnTo>
                      <a:pt x="2848" y="75"/>
                    </a:lnTo>
                    <a:lnTo>
                      <a:pt x="2173" y="300"/>
                    </a:lnTo>
                    <a:lnTo>
                      <a:pt x="1574" y="600"/>
                    </a:lnTo>
                    <a:lnTo>
                      <a:pt x="1049" y="1050"/>
                    </a:lnTo>
                    <a:lnTo>
                      <a:pt x="600" y="1574"/>
                    </a:lnTo>
                    <a:lnTo>
                      <a:pt x="300" y="2174"/>
                    </a:lnTo>
                    <a:lnTo>
                      <a:pt x="75" y="2848"/>
                    </a:lnTo>
                    <a:lnTo>
                      <a:pt x="0" y="3598"/>
                    </a:lnTo>
                    <a:lnTo>
                      <a:pt x="75" y="4347"/>
                    </a:lnTo>
                    <a:lnTo>
                      <a:pt x="300" y="5022"/>
                    </a:lnTo>
                    <a:lnTo>
                      <a:pt x="600" y="5621"/>
                    </a:lnTo>
                    <a:lnTo>
                      <a:pt x="1049" y="6146"/>
                    </a:lnTo>
                    <a:lnTo>
                      <a:pt x="1574" y="6596"/>
                    </a:lnTo>
                    <a:lnTo>
                      <a:pt x="2173" y="6896"/>
                    </a:lnTo>
                    <a:lnTo>
                      <a:pt x="2848" y="7120"/>
                    </a:lnTo>
                    <a:lnTo>
                      <a:pt x="3597" y="7195"/>
                    </a:lnTo>
                    <a:lnTo>
                      <a:pt x="7644" y="7195"/>
                    </a:lnTo>
                    <a:lnTo>
                      <a:pt x="8319" y="7120"/>
                    </a:lnTo>
                    <a:lnTo>
                      <a:pt x="8994" y="6896"/>
                    </a:lnTo>
                    <a:lnTo>
                      <a:pt x="9593" y="6596"/>
                    </a:lnTo>
                    <a:lnTo>
                      <a:pt x="10118" y="6146"/>
                    </a:lnTo>
                    <a:lnTo>
                      <a:pt x="10567" y="5621"/>
                    </a:lnTo>
                    <a:lnTo>
                      <a:pt x="10867" y="5022"/>
                    </a:lnTo>
                    <a:lnTo>
                      <a:pt x="11092" y="4347"/>
                    </a:lnTo>
                    <a:lnTo>
                      <a:pt x="11167" y="3598"/>
                    </a:lnTo>
                    <a:lnTo>
                      <a:pt x="11092" y="2848"/>
                    </a:lnTo>
                    <a:lnTo>
                      <a:pt x="10867" y="2174"/>
                    </a:lnTo>
                    <a:lnTo>
                      <a:pt x="10567" y="1574"/>
                    </a:lnTo>
                    <a:lnTo>
                      <a:pt x="10118" y="1050"/>
                    </a:lnTo>
                    <a:lnTo>
                      <a:pt x="9593" y="600"/>
                    </a:lnTo>
                    <a:lnTo>
                      <a:pt x="8994" y="300"/>
                    </a:lnTo>
                    <a:lnTo>
                      <a:pt x="8319" y="75"/>
                    </a:lnTo>
                    <a:lnTo>
                      <a:pt x="764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78;p31">
                <a:extLst>
                  <a:ext uri="{FF2B5EF4-FFF2-40B4-BE49-F238E27FC236}">
                    <a16:creationId xmlns:a16="http://schemas.microsoft.com/office/drawing/2014/main" id="{F5DEDFDB-DA5D-4894-A54C-E5F3BE17BF61}"/>
                  </a:ext>
                </a:extLst>
              </p:cNvPr>
              <p:cNvSpPr/>
              <p:nvPr/>
            </p:nvSpPr>
            <p:spPr>
              <a:xfrm>
                <a:off x="3650725" y="446100"/>
                <a:ext cx="54375" cy="54350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2174" extrusionOk="0">
                    <a:moveTo>
                      <a:pt x="1125" y="0"/>
                    </a:moveTo>
                    <a:lnTo>
                      <a:pt x="825" y="75"/>
                    </a:lnTo>
                    <a:lnTo>
                      <a:pt x="675" y="75"/>
                    </a:lnTo>
                    <a:lnTo>
                      <a:pt x="450" y="225"/>
                    </a:lnTo>
                    <a:lnTo>
                      <a:pt x="300" y="300"/>
                    </a:lnTo>
                    <a:lnTo>
                      <a:pt x="225" y="525"/>
                    </a:lnTo>
                    <a:lnTo>
                      <a:pt x="76" y="675"/>
                    </a:lnTo>
                    <a:lnTo>
                      <a:pt x="1" y="824"/>
                    </a:lnTo>
                    <a:lnTo>
                      <a:pt x="1" y="1124"/>
                    </a:lnTo>
                    <a:lnTo>
                      <a:pt x="1" y="1349"/>
                    </a:lnTo>
                    <a:lnTo>
                      <a:pt x="76" y="1499"/>
                    </a:lnTo>
                    <a:lnTo>
                      <a:pt x="225" y="1649"/>
                    </a:lnTo>
                    <a:lnTo>
                      <a:pt x="300" y="1874"/>
                    </a:lnTo>
                    <a:lnTo>
                      <a:pt x="450" y="2024"/>
                    </a:lnTo>
                    <a:lnTo>
                      <a:pt x="675" y="2099"/>
                    </a:lnTo>
                    <a:lnTo>
                      <a:pt x="825" y="2173"/>
                    </a:lnTo>
                    <a:lnTo>
                      <a:pt x="1275" y="2173"/>
                    </a:lnTo>
                    <a:lnTo>
                      <a:pt x="1500" y="2099"/>
                    </a:lnTo>
                    <a:lnTo>
                      <a:pt x="1649" y="2024"/>
                    </a:lnTo>
                    <a:lnTo>
                      <a:pt x="1799" y="1874"/>
                    </a:lnTo>
                    <a:lnTo>
                      <a:pt x="1949" y="1649"/>
                    </a:lnTo>
                    <a:lnTo>
                      <a:pt x="2099" y="1499"/>
                    </a:lnTo>
                    <a:lnTo>
                      <a:pt x="2099" y="1349"/>
                    </a:lnTo>
                    <a:lnTo>
                      <a:pt x="2174" y="1124"/>
                    </a:lnTo>
                    <a:lnTo>
                      <a:pt x="2099" y="824"/>
                    </a:lnTo>
                    <a:lnTo>
                      <a:pt x="2099" y="675"/>
                    </a:lnTo>
                    <a:lnTo>
                      <a:pt x="1949" y="525"/>
                    </a:lnTo>
                    <a:lnTo>
                      <a:pt x="1799" y="300"/>
                    </a:lnTo>
                    <a:lnTo>
                      <a:pt x="1649" y="225"/>
                    </a:lnTo>
                    <a:lnTo>
                      <a:pt x="1500" y="75"/>
                    </a:lnTo>
                    <a:lnTo>
                      <a:pt x="1275" y="75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79;p31">
                <a:extLst>
                  <a:ext uri="{FF2B5EF4-FFF2-40B4-BE49-F238E27FC236}">
                    <a16:creationId xmlns:a16="http://schemas.microsoft.com/office/drawing/2014/main" id="{0DE8FD79-4DAC-45A2-B488-9836444CE5E6}"/>
                  </a:ext>
                </a:extLst>
              </p:cNvPr>
              <p:cNvSpPr/>
              <p:nvPr/>
            </p:nvSpPr>
            <p:spPr>
              <a:xfrm>
                <a:off x="3761275" y="423600"/>
                <a:ext cx="99325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3973" h="3973" extrusionOk="0">
                    <a:moveTo>
                      <a:pt x="2024" y="1"/>
                    </a:moveTo>
                    <a:lnTo>
                      <a:pt x="1574" y="76"/>
                    </a:lnTo>
                    <a:lnTo>
                      <a:pt x="1200" y="151"/>
                    </a:lnTo>
                    <a:lnTo>
                      <a:pt x="900" y="375"/>
                    </a:lnTo>
                    <a:lnTo>
                      <a:pt x="600" y="600"/>
                    </a:lnTo>
                    <a:lnTo>
                      <a:pt x="375" y="900"/>
                    </a:lnTo>
                    <a:lnTo>
                      <a:pt x="150" y="1200"/>
                    </a:lnTo>
                    <a:lnTo>
                      <a:pt x="75" y="1575"/>
                    </a:lnTo>
                    <a:lnTo>
                      <a:pt x="0" y="2024"/>
                    </a:lnTo>
                    <a:lnTo>
                      <a:pt x="75" y="2399"/>
                    </a:lnTo>
                    <a:lnTo>
                      <a:pt x="150" y="2774"/>
                    </a:lnTo>
                    <a:lnTo>
                      <a:pt x="375" y="3073"/>
                    </a:lnTo>
                    <a:lnTo>
                      <a:pt x="600" y="3373"/>
                    </a:lnTo>
                    <a:lnTo>
                      <a:pt x="900" y="3673"/>
                    </a:lnTo>
                    <a:lnTo>
                      <a:pt x="1200" y="3823"/>
                    </a:lnTo>
                    <a:lnTo>
                      <a:pt x="1574" y="3973"/>
                    </a:lnTo>
                    <a:lnTo>
                      <a:pt x="2399" y="3973"/>
                    </a:lnTo>
                    <a:lnTo>
                      <a:pt x="2773" y="3823"/>
                    </a:lnTo>
                    <a:lnTo>
                      <a:pt x="3073" y="3673"/>
                    </a:lnTo>
                    <a:lnTo>
                      <a:pt x="3373" y="3373"/>
                    </a:lnTo>
                    <a:lnTo>
                      <a:pt x="3598" y="3073"/>
                    </a:lnTo>
                    <a:lnTo>
                      <a:pt x="3823" y="2774"/>
                    </a:lnTo>
                    <a:lnTo>
                      <a:pt x="3898" y="2399"/>
                    </a:lnTo>
                    <a:lnTo>
                      <a:pt x="3973" y="2024"/>
                    </a:lnTo>
                    <a:lnTo>
                      <a:pt x="3898" y="1575"/>
                    </a:lnTo>
                    <a:lnTo>
                      <a:pt x="3823" y="1200"/>
                    </a:lnTo>
                    <a:lnTo>
                      <a:pt x="3598" y="900"/>
                    </a:lnTo>
                    <a:lnTo>
                      <a:pt x="3373" y="600"/>
                    </a:lnTo>
                    <a:lnTo>
                      <a:pt x="3073" y="375"/>
                    </a:lnTo>
                    <a:lnTo>
                      <a:pt x="2773" y="151"/>
                    </a:lnTo>
                    <a:lnTo>
                      <a:pt x="2399" y="76"/>
                    </a:lnTo>
                    <a:lnTo>
                      <a:pt x="2024" y="1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4" name="Imagen 33" descr="Logotipo&#10;&#10;Descripción generada automáticamente">
              <a:extLst>
                <a:ext uri="{FF2B5EF4-FFF2-40B4-BE49-F238E27FC236}">
                  <a16:creationId xmlns:a16="http://schemas.microsoft.com/office/drawing/2014/main" id="{4DC49A7E-2B37-41A2-8553-0080C351F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3187" y="2014462"/>
              <a:ext cx="2451530" cy="2451530"/>
            </a:xfrm>
            <a:prstGeom prst="rect">
              <a:avLst/>
            </a:prstGeom>
          </p:spPr>
        </p:pic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30986E4D-4D71-4E5C-94FF-4359B668BC65}"/>
              </a:ext>
            </a:extLst>
          </p:cNvPr>
          <p:cNvGrpSpPr/>
          <p:nvPr/>
        </p:nvGrpSpPr>
        <p:grpSpPr>
          <a:xfrm>
            <a:off x="10107620" y="3347210"/>
            <a:ext cx="1546017" cy="3206746"/>
            <a:chOff x="10833372" y="3014223"/>
            <a:chExt cx="1546017" cy="3206746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C4F6E655-0319-4061-820C-AB96302BCA20}"/>
                </a:ext>
              </a:extLst>
            </p:cNvPr>
            <p:cNvSpPr/>
            <p:nvPr/>
          </p:nvSpPr>
          <p:spPr>
            <a:xfrm>
              <a:off x="10854534" y="3238500"/>
              <a:ext cx="1508916" cy="2695575"/>
            </a:xfrm>
            <a:prstGeom prst="rect">
              <a:avLst/>
            </a:prstGeom>
            <a:solidFill>
              <a:srgbClr val="393E4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15" name="Google Shape;263;p30">
              <a:extLst>
                <a:ext uri="{FF2B5EF4-FFF2-40B4-BE49-F238E27FC236}">
                  <a16:creationId xmlns:a16="http://schemas.microsoft.com/office/drawing/2014/main" id="{6DB80369-9FA7-4FCB-9E50-FC7B1868BE3E}"/>
                </a:ext>
              </a:extLst>
            </p:cNvPr>
            <p:cNvGrpSpPr/>
            <p:nvPr/>
          </p:nvGrpSpPr>
          <p:grpSpPr>
            <a:xfrm>
              <a:off x="10833372" y="3014223"/>
              <a:ext cx="1546017" cy="3206746"/>
              <a:chOff x="2547150" y="238125"/>
              <a:chExt cx="2525675" cy="5238750"/>
            </a:xfrm>
          </p:grpSpPr>
          <p:sp>
            <p:nvSpPr>
              <p:cNvPr id="16" name="Google Shape;264;p30">
                <a:extLst>
                  <a:ext uri="{FF2B5EF4-FFF2-40B4-BE49-F238E27FC236}">
                    <a16:creationId xmlns:a16="http://schemas.microsoft.com/office/drawing/2014/main" id="{B51BF35A-4CB3-4278-A047-B1553C4DDC15}"/>
                  </a:ext>
                </a:extLst>
              </p:cNvPr>
              <p:cNvSpPr/>
              <p:nvPr/>
            </p:nvSpPr>
            <p:spPr>
              <a:xfrm>
                <a:off x="2547150" y="238125"/>
                <a:ext cx="2525675" cy="5238750"/>
              </a:xfrm>
              <a:custGeom>
                <a:avLst/>
                <a:gdLst/>
                <a:ahLst/>
                <a:cxnLst/>
                <a:rect l="l" t="t" r="r" b="b"/>
                <a:pathLst>
                  <a:path w="101027" h="209550" extrusionOk="0">
                    <a:moveTo>
                      <a:pt x="98629" y="18886"/>
                    </a:moveTo>
                    <a:lnTo>
                      <a:pt x="98629" y="190364"/>
                    </a:lnTo>
                    <a:lnTo>
                      <a:pt x="2398" y="190364"/>
                    </a:lnTo>
                    <a:lnTo>
                      <a:pt x="2398" y="18886"/>
                    </a:lnTo>
                    <a:close/>
                    <a:moveTo>
                      <a:pt x="10343" y="0"/>
                    </a:moveTo>
                    <a:lnTo>
                      <a:pt x="9293" y="75"/>
                    </a:lnTo>
                    <a:lnTo>
                      <a:pt x="8244" y="225"/>
                    </a:lnTo>
                    <a:lnTo>
                      <a:pt x="7270" y="450"/>
                    </a:lnTo>
                    <a:lnTo>
                      <a:pt x="6295" y="824"/>
                    </a:lnTo>
                    <a:lnTo>
                      <a:pt x="5396" y="1274"/>
                    </a:lnTo>
                    <a:lnTo>
                      <a:pt x="4572" y="1799"/>
                    </a:lnTo>
                    <a:lnTo>
                      <a:pt x="3747" y="2398"/>
                    </a:lnTo>
                    <a:lnTo>
                      <a:pt x="2998" y="3073"/>
                    </a:lnTo>
                    <a:lnTo>
                      <a:pt x="2323" y="3747"/>
                    </a:lnTo>
                    <a:lnTo>
                      <a:pt x="1724" y="4572"/>
                    </a:lnTo>
                    <a:lnTo>
                      <a:pt x="1199" y="5396"/>
                    </a:lnTo>
                    <a:lnTo>
                      <a:pt x="824" y="6370"/>
                    </a:lnTo>
                    <a:lnTo>
                      <a:pt x="450" y="7270"/>
                    </a:lnTo>
                    <a:lnTo>
                      <a:pt x="225" y="8319"/>
                    </a:lnTo>
                    <a:lnTo>
                      <a:pt x="0" y="9293"/>
                    </a:lnTo>
                    <a:lnTo>
                      <a:pt x="0" y="10343"/>
                    </a:lnTo>
                    <a:lnTo>
                      <a:pt x="0" y="199207"/>
                    </a:lnTo>
                    <a:lnTo>
                      <a:pt x="0" y="200257"/>
                    </a:lnTo>
                    <a:lnTo>
                      <a:pt x="225" y="201231"/>
                    </a:lnTo>
                    <a:lnTo>
                      <a:pt x="450" y="202280"/>
                    </a:lnTo>
                    <a:lnTo>
                      <a:pt x="824" y="203180"/>
                    </a:lnTo>
                    <a:lnTo>
                      <a:pt x="1199" y="204154"/>
                    </a:lnTo>
                    <a:lnTo>
                      <a:pt x="1724" y="204978"/>
                    </a:lnTo>
                    <a:lnTo>
                      <a:pt x="2323" y="205803"/>
                    </a:lnTo>
                    <a:lnTo>
                      <a:pt x="2998" y="206477"/>
                    </a:lnTo>
                    <a:lnTo>
                      <a:pt x="3747" y="207152"/>
                    </a:lnTo>
                    <a:lnTo>
                      <a:pt x="4572" y="207751"/>
                    </a:lnTo>
                    <a:lnTo>
                      <a:pt x="5396" y="208276"/>
                    </a:lnTo>
                    <a:lnTo>
                      <a:pt x="6295" y="208726"/>
                    </a:lnTo>
                    <a:lnTo>
                      <a:pt x="7270" y="209100"/>
                    </a:lnTo>
                    <a:lnTo>
                      <a:pt x="8244" y="209325"/>
                    </a:lnTo>
                    <a:lnTo>
                      <a:pt x="9293" y="209475"/>
                    </a:lnTo>
                    <a:lnTo>
                      <a:pt x="10343" y="209550"/>
                    </a:lnTo>
                    <a:lnTo>
                      <a:pt x="90610" y="209550"/>
                    </a:lnTo>
                    <a:lnTo>
                      <a:pt x="91659" y="209475"/>
                    </a:lnTo>
                    <a:lnTo>
                      <a:pt x="92708" y="209325"/>
                    </a:lnTo>
                    <a:lnTo>
                      <a:pt x="93682" y="209100"/>
                    </a:lnTo>
                    <a:lnTo>
                      <a:pt x="94657" y="208726"/>
                    </a:lnTo>
                    <a:lnTo>
                      <a:pt x="95556" y="208276"/>
                    </a:lnTo>
                    <a:lnTo>
                      <a:pt x="96455" y="207751"/>
                    </a:lnTo>
                    <a:lnTo>
                      <a:pt x="97205" y="207152"/>
                    </a:lnTo>
                    <a:lnTo>
                      <a:pt x="97954" y="206477"/>
                    </a:lnTo>
                    <a:lnTo>
                      <a:pt x="98629" y="205803"/>
                    </a:lnTo>
                    <a:lnTo>
                      <a:pt x="99228" y="204978"/>
                    </a:lnTo>
                    <a:lnTo>
                      <a:pt x="99753" y="204154"/>
                    </a:lnTo>
                    <a:lnTo>
                      <a:pt x="100203" y="203180"/>
                    </a:lnTo>
                    <a:lnTo>
                      <a:pt x="100577" y="202280"/>
                    </a:lnTo>
                    <a:lnTo>
                      <a:pt x="100802" y="201231"/>
                    </a:lnTo>
                    <a:lnTo>
                      <a:pt x="100952" y="200257"/>
                    </a:lnTo>
                    <a:lnTo>
                      <a:pt x="101027" y="199207"/>
                    </a:lnTo>
                    <a:lnTo>
                      <a:pt x="101027" y="10343"/>
                    </a:lnTo>
                    <a:lnTo>
                      <a:pt x="100952" y="9293"/>
                    </a:lnTo>
                    <a:lnTo>
                      <a:pt x="100802" y="8319"/>
                    </a:lnTo>
                    <a:lnTo>
                      <a:pt x="100577" y="7270"/>
                    </a:lnTo>
                    <a:lnTo>
                      <a:pt x="100203" y="6370"/>
                    </a:lnTo>
                    <a:lnTo>
                      <a:pt x="99753" y="5396"/>
                    </a:lnTo>
                    <a:lnTo>
                      <a:pt x="99228" y="4572"/>
                    </a:lnTo>
                    <a:lnTo>
                      <a:pt x="98629" y="3747"/>
                    </a:lnTo>
                    <a:lnTo>
                      <a:pt x="97954" y="3073"/>
                    </a:lnTo>
                    <a:lnTo>
                      <a:pt x="97205" y="2398"/>
                    </a:lnTo>
                    <a:lnTo>
                      <a:pt x="96455" y="1799"/>
                    </a:lnTo>
                    <a:lnTo>
                      <a:pt x="95556" y="1274"/>
                    </a:lnTo>
                    <a:lnTo>
                      <a:pt x="94657" y="824"/>
                    </a:lnTo>
                    <a:lnTo>
                      <a:pt x="93682" y="450"/>
                    </a:lnTo>
                    <a:lnTo>
                      <a:pt x="92708" y="225"/>
                    </a:lnTo>
                    <a:lnTo>
                      <a:pt x="91659" y="75"/>
                    </a:lnTo>
                    <a:lnTo>
                      <a:pt x="90610" y="0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65;p30">
                <a:extLst>
                  <a:ext uri="{FF2B5EF4-FFF2-40B4-BE49-F238E27FC236}">
                    <a16:creationId xmlns:a16="http://schemas.microsoft.com/office/drawing/2014/main" id="{4E9724C9-2287-4F69-B5AE-BB8B425D5ACE}"/>
                  </a:ext>
                </a:extLst>
              </p:cNvPr>
              <p:cNvSpPr/>
              <p:nvPr/>
            </p:nvSpPr>
            <p:spPr>
              <a:xfrm>
                <a:off x="3557025" y="5147100"/>
                <a:ext cx="504050" cy="179900"/>
              </a:xfrm>
              <a:custGeom>
                <a:avLst/>
                <a:gdLst/>
                <a:ahLst/>
                <a:cxnLst/>
                <a:rect l="l" t="t" r="r" b="b"/>
                <a:pathLst>
                  <a:path w="20162" h="7196" extrusionOk="0">
                    <a:moveTo>
                      <a:pt x="3598" y="0"/>
                    </a:moveTo>
                    <a:lnTo>
                      <a:pt x="2849" y="75"/>
                    </a:lnTo>
                    <a:lnTo>
                      <a:pt x="2174" y="300"/>
                    </a:lnTo>
                    <a:lnTo>
                      <a:pt x="1575" y="600"/>
                    </a:lnTo>
                    <a:lnTo>
                      <a:pt x="1050" y="1050"/>
                    </a:lnTo>
                    <a:lnTo>
                      <a:pt x="600" y="1574"/>
                    </a:lnTo>
                    <a:lnTo>
                      <a:pt x="301" y="2174"/>
                    </a:lnTo>
                    <a:lnTo>
                      <a:pt x="76" y="2848"/>
                    </a:lnTo>
                    <a:lnTo>
                      <a:pt x="1" y="3598"/>
                    </a:lnTo>
                    <a:lnTo>
                      <a:pt x="76" y="4347"/>
                    </a:lnTo>
                    <a:lnTo>
                      <a:pt x="301" y="5022"/>
                    </a:lnTo>
                    <a:lnTo>
                      <a:pt x="600" y="5621"/>
                    </a:lnTo>
                    <a:lnTo>
                      <a:pt x="1050" y="6146"/>
                    </a:lnTo>
                    <a:lnTo>
                      <a:pt x="1575" y="6596"/>
                    </a:lnTo>
                    <a:lnTo>
                      <a:pt x="2174" y="6896"/>
                    </a:lnTo>
                    <a:lnTo>
                      <a:pt x="2849" y="7120"/>
                    </a:lnTo>
                    <a:lnTo>
                      <a:pt x="3598" y="7195"/>
                    </a:lnTo>
                    <a:lnTo>
                      <a:pt x="16639" y="7195"/>
                    </a:lnTo>
                    <a:lnTo>
                      <a:pt x="17313" y="7120"/>
                    </a:lnTo>
                    <a:lnTo>
                      <a:pt x="17988" y="6896"/>
                    </a:lnTo>
                    <a:lnTo>
                      <a:pt x="18587" y="6596"/>
                    </a:lnTo>
                    <a:lnTo>
                      <a:pt x="19112" y="6146"/>
                    </a:lnTo>
                    <a:lnTo>
                      <a:pt x="19562" y="5621"/>
                    </a:lnTo>
                    <a:lnTo>
                      <a:pt x="19861" y="5022"/>
                    </a:lnTo>
                    <a:lnTo>
                      <a:pt x="20086" y="4347"/>
                    </a:lnTo>
                    <a:lnTo>
                      <a:pt x="20161" y="3598"/>
                    </a:lnTo>
                    <a:lnTo>
                      <a:pt x="20086" y="2848"/>
                    </a:lnTo>
                    <a:lnTo>
                      <a:pt x="19861" y="2174"/>
                    </a:lnTo>
                    <a:lnTo>
                      <a:pt x="19562" y="1574"/>
                    </a:lnTo>
                    <a:lnTo>
                      <a:pt x="19112" y="1050"/>
                    </a:lnTo>
                    <a:lnTo>
                      <a:pt x="18587" y="600"/>
                    </a:lnTo>
                    <a:lnTo>
                      <a:pt x="17988" y="300"/>
                    </a:lnTo>
                    <a:lnTo>
                      <a:pt x="17313" y="75"/>
                    </a:lnTo>
                    <a:lnTo>
                      <a:pt x="16639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66;p30">
                <a:extLst>
                  <a:ext uri="{FF2B5EF4-FFF2-40B4-BE49-F238E27FC236}">
                    <a16:creationId xmlns:a16="http://schemas.microsoft.com/office/drawing/2014/main" id="{8BC79F76-4A90-4A43-B94C-F4680C4A8491}"/>
                  </a:ext>
                </a:extLst>
              </p:cNvPr>
              <p:cNvSpPr/>
              <p:nvPr/>
            </p:nvSpPr>
            <p:spPr>
              <a:xfrm>
                <a:off x="3008050" y="423600"/>
                <a:ext cx="99325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3973" h="3973" extrusionOk="0">
                    <a:moveTo>
                      <a:pt x="2024" y="1"/>
                    </a:moveTo>
                    <a:lnTo>
                      <a:pt x="1575" y="76"/>
                    </a:lnTo>
                    <a:lnTo>
                      <a:pt x="1200" y="151"/>
                    </a:lnTo>
                    <a:lnTo>
                      <a:pt x="900" y="375"/>
                    </a:lnTo>
                    <a:lnTo>
                      <a:pt x="600" y="600"/>
                    </a:lnTo>
                    <a:lnTo>
                      <a:pt x="375" y="900"/>
                    </a:lnTo>
                    <a:lnTo>
                      <a:pt x="151" y="1200"/>
                    </a:lnTo>
                    <a:lnTo>
                      <a:pt x="76" y="1575"/>
                    </a:lnTo>
                    <a:lnTo>
                      <a:pt x="1" y="2024"/>
                    </a:lnTo>
                    <a:lnTo>
                      <a:pt x="76" y="2399"/>
                    </a:lnTo>
                    <a:lnTo>
                      <a:pt x="151" y="2774"/>
                    </a:lnTo>
                    <a:lnTo>
                      <a:pt x="375" y="3073"/>
                    </a:lnTo>
                    <a:lnTo>
                      <a:pt x="600" y="3373"/>
                    </a:lnTo>
                    <a:lnTo>
                      <a:pt x="900" y="3673"/>
                    </a:lnTo>
                    <a:lnTo>
                      <a:pt x="1200" y="3823"/>
                    </a:lnTo>
                    <a:lnTo>
                      <a:pt x="1575" y="3973"/>
                    </a:lnTo>
                    <a:lnTo>
                      <a:pt x="2399" y="3973"/>
                    </a:lnTo>
                    <a:lnTo>
                      <a:pt x="2774" y="3823"/>
                    </a:lnTo>
                    <a:lnTo>
                      <a:pt x="3073" y="3673"/>
                    </a:lnTo>
                    <a:lnTo>
                      <a:pt x="3373" y="3373"/>
                    </a:lnTo>
                    <a:lnTo>
                      <a:pt x="3598" y="3073"/>
                    </a:lnTo>
                    <a:lnTo>
                      <a:pt x="3823" y="2774"/>
                    </a:lnTo>
                    <a:lnTo>
                      <a:pt x="3898" y="2399"/>
                    </a:lnTo>
                    <a:lnTo>
                      <a:pt x="3973" y="2024"/>
                    </a:lnTo>
                    <a:lnTo>
                      <a:pt x="3898" y="1575"/>
                    </a:lnTo>
                    <a:lnTo>
                      <a:pt x="3823" y="1200"/>
                    </a:lnTo>
                    <a:lnTo>
                      <a:pt x="3598" y="900"/>
                    </a:lnTo>
                    <a:lnTo>
                      <a:pt x="3373" y="600"/>
                    </a:lnTo>
                    <a:lnTo>
                      <a:pt x="3073" y="375"/>
                    </a:lnTo>
                    <a:lnTo>
                      <a:pt x="2774" y="151"/>
                    </a:lnTo>
                    <a:lnTo>
                      <a:pt x="2399" y="76"/>
                    </a:lnTo>
                    <a:lnTo>
                      <a:pt x="2024" y="1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67;p30">
                <a:extLst>
                  <a:ext uri="{FF2B5EF4-FFF2-40B4-BE49-F238E27FC236}">
                    <a16:creationId xmlns:a16="http://schemas.microsoft.com/office/drawing/2014/main" id="{FCB0EFDC-4825-4004-BDBD-DF6A757594B4}"/>
                  </a:ext>
                </a:extLst>
              </p:cNvPr>
              <p:cNvSpPr/>
              <p:nvPr/>
            </p:nvSpPr>
            <p:spPr>
              <a:xfrm>
                <a:off x="3566400" y="434850"/>
                <a:ext cx="487175" cy="76850"/>
              </a:xfrm>
              <a:custGeom>
                <a:avLst/>
                <a:gdLst/>
                <a:ahLst/>
                <a:cxnLst/>
                <a:rect l="l" t="t" r="r" b="b"/>
                <a:pathLst>
                  <a:path w="19487" h="3074" extrusionOk="0">
                    <a:moveTo>
                      <a:pt x="1275" y="0"/>
                    </a:moveTo>
                    <a:lnTo>
                      <a:pt x="1050" y="75"/>
                    </a:lnTo>
                    <a:lnTo>
                      <a:pt x="750" y="150"/>
                    </a:lnTo>
                    <a:lnTo>
                      <a:pt x="525" y="300"/>
                    </a:lnTo>
                    <a:lnTo>
                      <a:pt x="375" y="450"/>
                    </a:lnTo>
                    <a:lnTo>
                      <a:pt x="225" y="675"/>
                    </a:lnTo>
                    <a:lnTo>
                      <a:pt x="75" y="975"/>
                    </a:lnTo>
                    <a:lnTo>
                      <a:pt x="1" y="1274"/>
                    </a:lnTo>
                    <a:lnTo>
                      <a:pt x="1" y="1574"/>
                    </a:lnTo>
                    <a:lnTo>
                      <a:pt x="1" y="1874"/>
                    </a:lnTo>
                    <a:lnTo>
                      <a:pt x="75" y="2174"/>
                    </a:lnTo>
                    <a:lnTo>
                      <a:pt x="225" y="2399"/>
                    </a:lnTo>
                    <a:lnTo>
                      <a:pt x="375" y="2623"/>
                    </a:lnTo>
                    <a:lnTo>
                      <a:pt x="525" y="2773"/>
                    </a:lnTo>
                    <a:lnTo>
                      <a:pt x="750" y="2923"/>
                    </a:lnTo>
                    <a:lnTo>
                      <a:pt x="1050" y="2998"/>
                    </a:lnTo>
                    <a:lnTo>
                      <a:pt x="1275" y="3073"/>
                    </a:lnTo>
                    <a:lnTo>
                      <a:pt x="18137" y="3073"/>
                    </a:lnTo>
                    <a:lnTo>
                      <a:pt x="18437" y="2998"/>
                    </a:lnTo>
                    <a:lnTo>
                      <a:pt x="18662" y="2923"/>
                    </a:lnTo>
                    <a:lnTo>
                      <a:pt x="18887" y="2773"/>
                    </a:lnTo>
                    <a:lnTo>
                      <a:pt x="19112" y="2623"/>
                    </a:lnTo>
                    <a:lnTo>
                      <a:pt x="19262" y="2399"/>
                    </a:lnTo>
                    <a:lnTo>
                      <a:pt x="19337" y="2174"/>
                    </a:lnTo>
                    <a:lnTo>
                      <a:pt x="19412" y="1874"/>
                    </a:lnTo>
                    <a:lnTo>
                      <a:pt x="19486" y="1574"/>
                    </a:lnTo>
                    <a:lnTo>
                      <a:pt x="19412" y="1274"/>
                    </a:lnTo>
                    <a:lnTo>
                      <a:pt x="19337" y="975"/>
                    </a:lnTo>
                    <a:lnTo>
                      <a:pt x="19262" y="675"/>
                    </a:lnTo>
                    <a:lnTo>
                      <a:pt x="19112" y="450"/>
                    </a:lnTo>
                    <a:lnTo>
                      <a:pt x="18887" y="300"/>
                    </a:lnTo>
                    <a:lnTo>
                      <a:pt x="18662" y="150"/>
                    </a:lnTo>
                    <a:lnTo>
                      <a:pt x="18437" y="75"/>
                    </a:lnTo>
                    <a:lnTo>
                      <a:pt x="18137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8" name="Imagen 37" descr="Logotipo&#10;&#10;Descripción generada automáticamente">
              <a:extLst>
                <a:ext uri="{FF2B5EF4-FFF2-40B4-BE49-F238E27FC236}">
                  <a16:creationId xmlns:a16="http://schemas.microsoft.com/office/drawing/2014/main" id="{9BB0B454-3392-4939-B0D1-A2F299EF7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295" y="3966622"/>
              <a:ext cx="1267022" cy="1267022"/>
            </a:xfrm>
            <a:prstGeom prst="rect">
              <a:avLst/>
            </a:prstGeom>
          </p:spPr>
        </p:pic>
      </p:grpSp>
      <p:pic>
        <p:nvPicPr>
          <p:cNvPr id="33" name="Imagen 32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AC469260-4DE0-4B65-8810-998B99D30C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933" y="111620"/>
            <a:ext cx="1007842" cy="2309467"/>
          </a:xfrm>
          <a:prstGeom prst="rect">
            <a:avLst/>
          </a:prstGeom>
        </p:spPr>
      </p:pic>
      <p:pic>
        <p:nvPicPr>
          <p:cNvPr id="37" name="Google Shape;123;p16">
            <a:extLst>
              <a:ext uri="{FF2B5EF4-FFF2-40B4-BE49-F238E27FC236}">
                <a16:creationId xmlns:a16="http://schemas.microsoft.com/office/drawing/2014/main" id="{128034A9-EF22-40A2-BB8A-5E6EAB212B0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67174" y="111620"/>
            <a:ext cx="1730694" cy="7524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72258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</TotalTime>
  <Words>1573</Words>
  <Application>Microsoft Office PowerPoint</Application>
  <PresentationFormat>Panorámica</PresentationFormat>
  <Paragraphs>193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8" baseType="lpstr">
      <vt:lpstr>Amatic SC</vt:lpstr>
      <vt:lpstr>Arial</vt:lpstr>
      <vt:lpstr>Calibri</vt:lpstr>
      <vt:lpstr>Calibri Light</vt:lpstr>
      <vt:lpstr>Courier New</vt:lpstr>
      <vt:lpstr>Franklin Gothic Book</vt:lpstr>
      <vt:lpstr>Roboto</vt:lpstr>
      <vt:lpstr>Symbol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ALFREDO RANGEL GONZALEZ</dc:creator>
  <cp:lastModifiedBy>alfredo gonzalez</cp:lastModifiedBy>
  <cp:revision>18</cp:revision>
  <dcterms:created xsi:type="dcterms:W3CDTF">2021-07-28T00:22:06Z</dcterms:created>
  <dcterms:modified xsi:type="dcterms:W3CDTF">2021-08-10T21:47:41Z</dcterms:modified>
</cp:coreProperties>
</file>